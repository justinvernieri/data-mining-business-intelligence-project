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notesMasterIdLst>
    <p:notesMasterId r:id="rId23"/>
  </p:notesMasterIdLst>
  <p:sldIdLst>
    <p:sldId id="269" r:id="rId2"/>
    <p:sldId id="257" r:id="rId3"/>
    <p:sldId id="267" r:id="rId4"/>
    <p:sldId id="274" r:id="rId5"/>
    <p:sldId id="270" r:id="rId6"/>
    <p:sldId id="277" r:id="rId7"/>
    <p:sldId id="258" r:id="rId8"/>
    <p:sldId id="268" r:id="rId9"/>
    <p:sldId id="271" r:id="rId10"/>
    <p:sldId id="275" r:id="rId11"/>
    <p:sldId id="273" r:id="rId12"/>
    <p:sldId id="272" r:id="rId13"/>
    <p:sldId id="259" r:id="rId14"/>
    <p:sldId id="260" r:id="rId15"/>
    <p:sldId id="261" r:id="rId16"/>
    <p:sldId id="262" r:id="rId17"/>
    <p:sldId id="264" r:id="rId18"/>
    <p:sldId id="263" r:id="rId19"/>
    <p:sldId id="265" r:id="rId20"/>
    <p:sldId id="266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0BAC6-615F-465A-A6AA-8500B7ACC7BB}" v="3" dt="2026-05-11T22:46:41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423" autoAdjust="0"/>
  </p:normalViewPr>
  <p:slideViewPr>
    <p:cSldViewPr snapToGrid="0">
      <p:cViewPr>
        <p:scale>
          <a:sx n="65" d="100"/>
          <a:sy n="65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Vernieri" userId="eb9b268682f512a5" providerId="LiveId" clId="{74C9B171-60D7-4A6D-8608-9DD9032DEE58}"/>
    <pc:docChg chg="undo custSel modSld">
      <pc:chgData name="Justin Vernieri" userId="eb9b268682f512a5" providerId="LiveId" clId="{74C9B171-60D7-4A6D-8608-9DD9032DEE58}" dt="2026-05-11T22:52:38.953" v="43" actId="20577"/>
      <pc:docMkLst>
        <pc:docMk/>
      </pc:docMkLst>
      <pc:sldChg chg="delSp mod modTransition delAnim modNotesTx">
        <pc:chgData name="Justin Vernieri" userId="eb9b268682f512a5" providerId="LiveId" clId="{74C9B171-60D7-4A6D-8608-9DD9032DEE58}" dt="2026-05-11T22:46:49.518" v="19" actId="20577"/>
        <pc:sldMkLst>
          <pc:docMk/>
          <pc:sldMk cId="3785183919" sldId="257"/>
        </pc:sldMkLst>
        <pc:picChg chg="del">
          <ac:chgData name="Justin Vernieri" userId="eb9b268682f512a5" providerId="LiveId" clId="{74C9B171-60D7-4A6D-8608-9DD9032DEE58}" dt="2026-05-11T22:44:39.163" v="1" actId="478"/>
          <ac:picMkLst>
            <pc:docMk/>
            <pc:sldMk cId="3785183919" sldId="257"/>
            <ac:picMk id="30" creationId="{751FF6F5-3A8A-DF97-7D0A-2A2C5AB4B912}"/>
          </ac:picMkLst>
        </pc:picChg>
      </pc:sldChg>
      <pc:sldChg chg="delSp mod modTransition delAnim modNotesTx">
        <pc:chgData name="Justin Vernieri" userId="eb9b268682f512a5" providerId="LiveId" clId="{74C9B171-60D7-4A6D-8608-9DD9032DEE58}" dt="2026-05-11T22:46:46.373" v="18" actId="20577"/>
        <pc:sldMkLst>
          <pc:docMk/>
          <pc:sldMk cId="198190239" sldId="258"/>
        </pc:sldMkLst>
        <pc:picChg chg="del">
          <ac:chgData name="Justin Vernieri" userId="eb9b268682f512a5" providerId="LiveId" clId="{74C9B171-60D7-4A6D-8608-9DD9032DEE58}" dt="2026-05-11T22:45:06.221" v="6" actId="478"/>
          <ac:picMkLst>
            <pc:docMk/>
            <pc:sldMk cId="198190239" sldId="258"/>
            <ac:picMk id="9" creationId="{7C9EA15E-3C45-2F56-ABB7-6BE74414FB4D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13.279" v="38" actId="20577"/>
        <pc:sldMkLst>
          <pc:docMk/>
          <pc:sldMk cId="3177144057" sldId="259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3177144057" sldId="259"/>
            <ac:picMk id="8" creationId="{8DB643FB-FE8D-D741-46A9-BA9EF9F8FA07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19.601" v="39" actId="20577"/>
        <pc:sldMkLst>
          <pc:docMk/>
          <pc:sldMk cId="2693677652" sldId="260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2693677652" sldId="260"/>
            <ac:picMk id="8" creationId="{FEE6BF33-7491-E1B2-A67C-8937DBC59014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25.513" v="40" actId="20577"/>
        <pc:sldMkLst>
          <pc:docMk/>
          <pc:sldMk cId="2418830360" sldId="261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2418830360" sldId="261"/>
            <ac:picMk id="5" creationId="{6826AD3F-FCAD-A416-4B7C-2D25878E7C05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29.458" v="41" actId="20577"/>
        <pc:sldMkLst>
          <pc:docMk/>
          <pc:sldMk cId="2923363034" sldId="262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2923363034" sldId="262"/>
            <ac:picMk id="7" creationId="{D8604338-A762-2D95-CEFC-7286974B2C3D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38.953" v="43" actId="20577"/>
        <pc:sldMkLst>
          <pc:docMk/>
          <pc:sldMk cId="2602624364" sldId="263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2602624364" sldId="263"/>
            <ac:picMk id="6" creationId="{05DD76ED-51B4-4D18-BDE5-010138023193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34.027" v="42" actId="20577"/>
        <pc:sldMkLst>
          <pc:docMk/>
          <pc:sldMk cId="1036954271" sldId="264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1036954271" sldId="264"/>
            <ac:picMk id="6" creationId="{D69AB287-26C3-E1C1-D0DC-FBDB0945F142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47:41.116" v="24" actId="20577"/>
        <pc:sldMkLst>
          <pc:docMk/>
          <pc:sldMk cId="2834908070" sldId="265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2834908070" sldId="265"/>
            <ac:picMk id="8" creationId="{C021449F-513F-A32E-D3BA-55BC9938EFC3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47:36.303" v="23" actId="20577"/>
        <pc:sldMkLst>
          <pc:docMk/>
          <pc:sldMk cId="3971872063" sldId="266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3971872063" sldId="266"/>
            <ac:picMk id="6" creationId="{93E1C492-5EBB-BC10-EAA7-57809347012E}"/>
          </ac:picMkLst>
        </pc:picChg>
      </pc:sldChg>
      <pc:sldChg chg="delSp mod modTransition delAnim modNotesTx">
        <pc:chgData name="Justin Vernieri" userId="eb9b268682f512a5" providerId="LiveId" clId="{74C9B171-60D7-4A6D-8608-9DD9032DEE58}" dt="2026-05-11T22:51:22.800" v="26" actId="20577"/>
        <pc:sldMkLst>
          <pc:docMk/>
          <pc:sldMk cId="2816264016" sldId="267"/>
        </pc:sldMkLst>
        <pc:picChg chg="del">
          <ac:chgData name="Justin Vernieri" userId="eb9b268682f512a5" providerId="LiveId" clId="{74C9B171-60D7-4A6D-8608-9DD9032DEE58}" dt="2026-05-11T22:44:41.927" v="2" actId="478"/>
          <ac:picMkLst>
            <pc:docMk/>
            <pc:sldMk cId="2816264016" sldId="267"/>
            <ac:picMk id="32" creationId="{B5ABE5BD-4717-89C5-16B6-D8CDD361965B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1:54.827" v="34" actId="20577"/>
        <pc:sldMkLst>
          <pc:docMk/>
          <pc:sldMk cId="57581431" sldId="268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57581431" sldId="268"/>
            <ac:picMk id="10" creationId="{8A6EE181-2CC5-D731-FA38-82212D88F82F}"/>
          </ac:picMkLst>
        </pc:picChg>
      </pc:sldChg>
      <pc:sldChg chg="delSp mod modTransition delAnim modNotesTx">
        <pc:chgData name="Justin Vernieri" userId="eb9b268682f512a5" providerId="LiveId" clId="{74C9B171-60D7-4A6D-8608-9DD9032DEE58}" dt="2026-05-11T22:46:51.965" v="20" actId="20577"/>
        <pc:sldMkLst>
          <pc:docMk/>
          <pc:sldMk cId="1860970990" sldId="269"/>
        </pc:sldMkLst>
        <pc:picChg chg="del">
          <ac:chgData name="Justin Vernieri" userId="eb9b268682f512a5" providerId="LiveId" clId="{74C9B171-60D7-4A6D-8608-9DD9032DEE58}" dt="2026-05-11T22:44:36.866" v="0" actId="478"/>
          <ac:picMkLst>
            <pc:docMk/>
            <pc:sldMk cId="1860970990" sldId="269"/>
            <ac:picMk id="53" creationId="{A6AB46A0-B22E-06DE-8BF5-F0D0BE507452}"/>
          </ac:picMkLst>
        </pc:picChg>
      </pc:sldChg>
      <pc:sldChg chg="delSp mod modTransition delAnim modNotesTx">
        <pc:chgData name="Justin Vernieri" userId="eb9b268682f512a5" providerId="LiveId" clId="{74C9B171-60D7-4A6D-8608-9DD9032DEE58}" dt="2026-05-11T22:51:34.678" v="32" actId="20577"/>
        <pc:sldMkLst>
          <pc:docMk/>
          <pc:sldMk cId="1844663690" sldId="270"/>
        </pc:sldMkLst>
        <pc:picChg chg="del">
          <ac:chgData name="Justin Vernieri" userId="eb9b268682f512a5" providerId="LiveId" clId="{74C9B171-60D7-4A6D-8608-9DD9032DEE58}" dt="2026-05-11T22:44:46.606" v="4" actId="478"/>
          <ac:picMkLst>
            <pc:docMk/>
            <pc:sldMk cId="1844663690" sldId="270"/>
            <ac:picMk id="24" creationId="{C0B6AE4D-623A-4382-4117-21358F2589F5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1:59.870" v="35" actId="20577"/>
        <pc:sldMkLst>
          <pc:docMk/>
          <pc:sldMk cId="587734559" sldId="271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587734559" sldId="271"/>
            <ac:picMk id="12" creationId="{A026D689-1CA5-DC6B-B4F0-922B4CFB430F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47:05.618" v="21" actId="20577"/>
        <pc:sldMkLst>
          <pc:docMk/>
          <pc:sldMk cId="3936480136" sldId="272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3936480136" sldId="272"/>
            <ac:picMk id="6" creationId="{27BD5027-AC1A-3694-827C-50C3A69BEB79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08.116" v="37" actId="20577"/>
        <pc:sldMkLst>
          <pc:docMk/>
          <pc:sldMk cId="3465946936" sldId="273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3465946936" sldId="273"/>
            <ac:picMk id="6" creationId="{92CBD2BC-9B07-C6E4-71DE-442EECEB5F42}"/>
          </ac:picMkLst>
        </pc:picChg>
      </pc:sldChg>
      <pc:sldChg chg="delSp mod modTransition delAnim modNotesTx">
        <pc:chgData name="Justin Vernieri" userId="eb9b268682f512a5" providerId="LiveId" clId="{74C9B171-60D7-4A6D-8608-9DD9032DEE58}" dt="2026-05-11T22:51:29.724" v="30" actId="20577"/>
        <pc:sldMkLst>
          <pc:docMk/>
          <pc:sldMk cId="1601774747" sldId="274"/>
        </pc:sldMkLst>
        <pc:picChg chg="del">
          <ac:chgData name="Justin Vernieri" userId="eb9b268682f512a5" providerId="LiveId" clId="{74C9B171-60D7-4A6D-8608-9DD9032DEE58}" dt="2026-05-11T22:44:44.022" v="3" actId="478"/>
          <ac:picMkLst>
            <pc:docMk/>
            <pc:sldMk cId="1601774747" sldId="274"/>
            <ac:picMk id="16" creationId="{AB0EC27A-2F44-DAC0-2952-1F07467C798E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52:04.425" v="36" actId="20577"/>
        <pc:sldMkLst>
          <pc:docMk/>
          <pc:sldMk cId="2815184019" sldId="275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2815184019" sldId="275"/>
            <ac:picMk id="11" creationId="{B6859921-1014-FE20-FF64-F93CBD0B6AE0}"/>
          </ac:picMkLst>
        </pc:picChg>
      </pc:sldChg>
      <pc:sldChg chg="addSp delSp modTransition modAnim modNotesTx">
        <pc:chgData name="Justin Vernieri" userId="eb9b268682f512a5" providerId="LiveId" clId="{74C9B171-60D7-4A6D-8608-9DD9032DEE58}" dt="2026-05-11T22:47:30.318" v="22" actId="20577"/>
        <pc:sldMkLst>
          <pc:docMk/>
          <pc:sldMk cId="3322152312" sldId="276"/>
        </pc:sldMkLst>
        <pc:picChg chg="add del">
          <ac:chgData name="Justin Vernieri" userId="eb9b268682f512a5" providerId="LiveId" clId="{74C9B171-60D7-4A6D-8608-9DD9032DEE58}" dt="2026-05-11T22:46:41.967" v="17"/>
          <ac:picMkLst>
            <pc:docMk/>
            <pc:sldMk cId="3322152312" sldId="276"/>
            <ac:picMk id="6" creationId="{60FDEB97-FD03-4B35-242F-C5F7B65BCB02}"/>
          </ac:picMkLst>
        </pc:picChg>
      </pc:sldChg>
      <pc:sldChg chg="delSp mod modTransition delAnim modNotesTx">
        <pc:chgData name="Justin Vernieri" userId="eb9b268682f512a5" providerId="LiveId" clId="{74C9B171-60D7-4A6D-8608-9DD9032DEE58}" dt="2026-05-11T22:51:46.155" v="33" actId="20577"/>
        <pc:sldMkLst>
          <pc:docMk/>
          <pc:sldMk cId="2988252420" sldId="277"/>
        </pc:sldMkLst>
        <pc:picChg chg="del">
          <ac:chgData name="Justin Vernieri" userId="eb9b268682f512a5" providerId="LiveId" clId="{74C9B171-60D7-4A6D-8608-9DD9032DEE58}" dt="2026-05-11T22:44:49.982" v="5" actId="478"/>
          <ac:picMkLst>
            <pc:docMk/>
            <pc:sldMk cId="2988252420" sldId="277"/>
            <ac:picMk id="10" creationId="{E88D8024-5708-84C1-0FBD-36FFE741FF3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D94BB6-3748-4BD8-B26B-43DD8A1DC25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E31D750-D116-46CD-AA86-4A03DF2BC8B0}">
      <dgm:prSet/>
      <dgm:spPr>
        <a:ln w="28575">
          <a:solidFill>
            <a:schemeClr val="accent2"/>
          </a:solidFill>
        </a:ln>
      </dgm:spPr>
      <dgm:t>
        <a:bodyPr/>
        <a:lstStyle/>
        <a:p>
          <a:r>
            <a:rPr lang="en-US" dirty="0"/>
            <a:t>Removed observations containing missing values</a:t>
          </a:r>
        </a:p>
      </dgm:t>
    </dgm:pt>
    <dgm:pt modelId="{C0D5F9FF-D4CE-4160-BEAE-A486E83BE464}" type="parTrans" cxnId="{EE644821-E22D-46DB-8642-5F0F09E4A415}">
      <dgm:prSet/>
      <dgm:spPr/>
      <dgm:t>
        <a:bodyPr/>
        <a:lstStyle/>
        <a:p>
          <a:endParaRPr lang="en-US"/>
        </a:p>
      </dgm:t>
    </dgm:pt>
    <dgm:pt modelId="{EAC86C64-0B95-433C-92D0-E6B093A0DD58}" type="sibTrans" cxnId="{EE644821-E22D-46DB-8642-5F0F09E4A415}">
      <dgm:prSet/>
      <dgm:spPr/>
      <dgm:t>
        <a:bodyPr/>
        <a:lstStyle/>
        <a:p>
          <a:endParaRPr lang="en-US"/>
        </a:p>
      </dgm:t>
    </dgm:pt>
    <dgm:pt modelId="{6A1E878F-42A6-4FF1-A786-A263A51F3402}">
      <dgm:prSet/>
      <dgm:spPr>
        <a:ln w="28575">
          <a:solidFill>
            <a:schemeClr val="accent2"/>
          </a:solidFill>
        </a:ln>
      </dgm:spPr>
      <dgm:t>
        <a:bodyPr/>
        <a:lstStyle/>
        <a:p>
          <a:r>
            <a:rPr lang="en-US" dirty="0"/>
            <a:t>Converted categorical variables to factors data types for modeling compatibility</a:t>
          </a:r>
        </a:p>
      </dgm:t>
    </dgm:pt>
    <dgm:pt modelId="{2593C29E-DBF1-4DB5-A080-A5D03FF9E845}" type="parTrans" cxnId="{E1C8BF1E-9611-4496-9C7E-F342A378FD32}">
      <dgm:prSet/>
      <dgm:spPr/>
      <dgm:t>
        <a:bodyPr/>
        <a:lstStyle/>
        <a:p>
          <a:endParaRPr lang="en-US"/>
        </a:p>
      </dgm:t>
    </dgm:pt>
    <dgm:pt modelId="{F2F290D7-F196-428C-9A93-5DA2C57C9759}" type="sibTrans" cxnId="{E1C8BF1E-9611-4496-9C7E-F342A378FD32}">
      <dgm:prSet/>
      <dgm:spPr/>
      <dgm:t>
        <a:bodyPr/>
        <a:lstStyle/>
        <a:p>
          <a:endParaRPr lang="en-US"/>
        </a:p>
      </dgm:t>
    </dgm:pt>
    <dgm:pt modelId="{C905AAB2-B697-432E-AD1B-5F7D19981B1D}">
      <dgm:prSet/>
      <dgm:spPr>
        <a:ln w="28575">
          <a:solidFill>
            <a:schemeClr val="accent2"/>
          </a:solidFill>
        </a:ln>
      </dgm:spPr>
      <dgm:t>
        <a:bodyPr/>
        <a:lstStyle/>
        <a:p>
          <a:r>
            <a:rPr lang="en-US" dirty="0"/>
            <a:t>Split dataset into 70% training data and 30% testing data</a:t>
          </a:r>
        </a:p>
      </dgm:t>
    </dgm:pt>
    <dgm:pt modelId="{80E83BEA-29C2-4E82-A13C-149B777D1E86}" type="parTrans" cxnId="{F361E832-1907-4EC5-9076-F1BA0C8BBA41}">
      <dgm:prSet/>
      <dgm:spPr/>
      <dgm:t>
        <a:bodyPr/>
        <a:lstStyle/>
        <a:p>
          <a:endParaRPr lang="en-US"/>
        </a:p>
      </dgm:t>
    </dgm:pt>
    <dgm:pt modelId="{D2FFE53D-8427-4432-8E94-E5F17C4F02F5}" type="sibTrans" cxnId="{F361E832-1907-4EC5-9076-F1BA0C8BBA41}">
      <dgm:prSet/>
      <dgm:spPr/>
      <dgm:t>
        <a:bodyPr/>
        <a:lstStyle/>
        <a:p>
          <a:endParaRPr lang="en-US"/>
        </a:p>
      </dgm:t>
    </dgm:pt>
    <dgm:pt modelId="{E808CB09-FD4D-40B3-91B2-228A8D48FDFC}" type="pres">
      <dgm:prSet presAssocID="{E0D94BB6-3748-4BD8-B26B-43DD8A1DC25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3CB500-601C-43BF-99E2-3DC1392C4772}" type="pres">
      <dgm:prSet presAssocID="{1E31D750-D116-46CD-AA86-4A03DF2BC8B0}" presName="hierRoot1" presStyleCnt="0"/>
      <dgm:spPr/>
    </dgm:pt>
    <dgm:pt modelId="{C8BB99D0-508F-487D-9B2E-F2CED56FE5EC}" type="pres">
      <dgm:prSet presAssocID="{1E31D750-D116-46CD-AA86-4A03DF2BC8B0}" presName="composite" presStyleCnt="0"/>
      <dgm:spPr/>
    </dgm:pt>
    <dgm:pt modelId="{63CFDE23-D11D-4F27-B3B9-7AC1895228AB}" type="pres">
      <dgm:prSet presAssocID="{1E31D750-D116-46CD-AA86-4A03DF2BC8B0}" presName="background" presStyleLbl="node0" presStyleIdx="0" presStyleCnt="3"/>
      <dgm:spPr>
        <a:ln w="28575">
          <a:solidFill>
            <a:schemeClr val="accent2"/>
          </a:solidFill>
        </a:ln>
      </dgm:spPr>
    </dgm:pt>
    <dgm:pt modelId="{88E3019A-27C8-47B8-B15D-5E573152D718}" type="pres">
      <dgm:prSet presAssocID="{1E31D750-D116-46CD-AA86-4A03DF2BC8B0}" presName="text" presStyleLbl="fgAcc0" presStyleIdx="0" presStyleCnt="3">
        <dgm:presLayoutVars>
          <dgm:chPref val="3"/>
        </dgm:presLayoutVars>
      </dgm:prSet>
      <dgm:spPr/>
    </dgm:pt>
    <dgm:pt modelId="{9A2E5627-756E-40C1-BA1A-3D00CC1EF52E}" type="pres">
      <dgm:prSet presAssocID="{1E31D750-D116-46CD-AA86-4A03DF2BC8B0}" presName="hierChild2" presStyleCnt="0"/>
      <dgm:spPr/>
    </dgm:pt>
    <dgm:pt modelId="{EF8DB015-F060-4CC7-A9DA-48EA2BEE21F8}" type="pres">
      <dgm:prSet presAssocID="{6A1E878F-42A6-4FF1-A786-A263A51F3402}" presName="hierRoot1" presStyleCnt="0"/>
      <dgm:spPr/>
    </dgm:pt>
    <dgm:pt modelId="{00A63599-80DC-4739-A3CD-18FDEC973D41}" type="pres">
      <dgm:prSet presAssocID="{6A1E878F-42A6-4FF1-A786-A263A51F3402}" presName="composite" presStyleCnt="0"/>
      <dgm:spPr/>
    </dgm:pt>
    <dgm:pt modelId="{BED93448-1909-4335-8FD2-3AEAC22E4D03}" type="pres">
      <dgm:prSet presAssocID="{6A1E878F-42A6-4FF1-A786-A263A51F3402}" presName="background" presStyleLbl="node0" presStyleIdx="1" presStyleCnt="3"/>
      <dgm:spPr>
        <a:ln w="28575">
          <a:solidFill>
            <a:schemeClr val="accent2"/>
          </a:solidFill>
        </a:ln>
      </dgm:spPr>
    </dgm:pt>
    <dgm:pt modelId="{BE9AA1DD-E581-4068-ADE7-6C6F00810A5D}" type="pres">
      <dgm:prSet presAssocID="{6A1E878F-42A6-4FF1-A786-A263A51F3402}" presName="text" presStyleLbl="fgAcc0" presStyleIdx="1" presStyleCnt="3">
        <dgm:presLayoutVars>
          <dgm:chPref val="3"/>
        </dgm:presLayoutVars>
      </dgm:prSet>
      <dgm:spPr/>
    </dgm:pt>
    <dgm:pt modelId="{CC2A377C-A00C-4000-AC8A-2DD33222ED21}" type="pres">
      <dgm:prSet presAssocID="{6A1E878F-42A6-4FF1-A786-A263A51F3402}" presName="hierChild2" presStyleCnt="0"/>
      <dgm:spPr/>
    </dgm:pt>
    <dgm:pt modelId="{1F086CDC-D268-4862-8910-31C88195635E}" type="pres">
      <dgm:prSet presAssocID="{C905AAB2-B697-432E-AD1B-5F7D19981B1D}" presName="hierRoot1" presStyleCnt="0"/>
      <dgm:spPr/>
    </dgm:pt>
    <dgm:pt modelId="{57A563A1-F91A-4075-9DCA-09788072EA92}" type="pres">
      <dgm:prSet presAssocID="{C905AAB2-B697-432E-AD1B-5F7D19981B1D}" presName="composite" presStyleCnt="0"/>
      <dgm:spPr/>
    </dgm:pt>
    <dgm:pt modelId="{46038ADE-3D28-42B5-83D3-0DD7E28E9A34}" type="pres">
      <dgm:prSet presAssocID="{C905AAB2-B697-432E-AD1B-5F7D19981B1D}" presName="background" presStyleLbl="node0" presStyleIdx="2" presStyleCnt="3"/>
      <dgm:spPr>
        <a:ln w="28575">
          <a:solidFill>
            <a:schemeClr val="accent2"/>
          </a:solidFill>
        </a:ln>
      </dgm:spPr>
    </dgm:pt>
    <dgm:pt modelId="{38AF42E0-DB20-4C05-B9B3-4A3BD58E54D1}" type="pres">
      <dgm:prSet presAssocID="{C905AAB2-B697-432E-AD1B-5F7D19981B1D}" presName="text" presStyleLbl="fgAcc0" presStyleIdx="2" presStyleCnt="3">
        <dgm:presLayoutVars>
          <dgm:chPref val="3"/>
        </dgm:presLayoutVars>
      </dgm:prSet>
      <dgm:spPr/>
    </dgm:pt>
    <dgm:pt modelId="{2E8A49BE-298F-4B23-BD8A-14A693EC1B48}" type="pres">
      <dgm:prSet presAssocID="{C905AAB2-B697-432E-AD1B-5F7D19981B1D}" presName="hierChild2" presStyleCnt="0"/>
      <dgm:spPr/>
    </dgm:pt>
  </dgm:ptLst>
  <dgm:cxnLst>
    <dgm:cxn modelId="{CD927D02-8A13-4051-A7E3-111E5D0FFDFE}" type="presOf" srcId="{E0D94BB6-3748-4BD8-B26B-43DD8A1DC259}" destId="{E808CB09-FD4D-40B3-91B2-228A8D48FDFC}" srcOrd="0" destOrd="0" presId="urn:microsoft.com/office/officeart/2005/8/layout/hierarchy1"/>
    <dgm:cxn modelId="{75773E12-FCB7-4D2E-8145-EB85F2DE498E}" type="presOf" srcId="{6A1E878F-42A6-4FF1-A786-A263A51F3402}" destId="{BE9AA1DD-E581-4068-ADE7-6C6F00810A5D}" srcOrd="0" destOrd="0" presId="urn:microsoft.com/office/officeart/2005/8/layout/hierarchy1"/>
    <dgm:cxn modelId="{E1C8BF1E-9611-4496-9C7E-F342A378FD32}" srcId="{E0D94BB6-3748-4BD8-B26B-43DD8A1DC259}" destId="{6A1E878F-42A6-4FF1-A786-A263A51F3402}" srcOrd="1" destOrd="0" parTransId="{2593C29E-DBF1-4DB5-A080-A5D03FF9E845}" sibTransId="{F2F290D7-F196-428C-9A93-5DA2C57C9759}"/>
    <dgm:cxn modelId="{EE644821-E22D-46DB-8642-5F0F09E4A415}" srcId="{E0D94BB6-3748-4BD8-B26B-43DD8A1DC259}" destId="{1E31D750-D116-46CD-AA86-4A03DF2BC8B0}" srcOrd="0" destOrd="0" parTransId="{C0D5F9FF-D4CE-4160-BEAE-A486E83BE464}" sibTransId="{EAC86C64-0B95-433C-92D0-E6B093A0DD58}"/>
    <dgm:cxn modelId="{F361E832-1907-4EC5-9076-F1BA0C8BBA41}" srcId="{E0D94BB6-3748-4BD8-B26B-43DD8A1DC259}" destId="{C905AAB2-B697-432E-AD1B-5F7D19981B1D}" srcOrd="2" destOrd="0" parTransId="{80E83BEA-29C2-4E82-A13C-149B777D1E86}" sibTransId="{D2FFE53D-8427-4432-8E94-E5F17C4F02F5}"/>
    <dgm:cxn modelId="{580EC8CA-9E7E-478A-AE2B-4F7D9E067D84}" type="presOf" srcId="{C905AAB2-B697-432E-AD1B-5F7D19981B1D}" destId="{38AF42E0-DB20-4C05-B9B3-4A3BD58E54D1}" srcOrd="0" destOrd="0" presId="urn:microsoft.com/office/officeart/2005/8/layout/hierarchy1"/>
    <dgm:cxn modelId="{EA776DDA-7360-4BEF-A2A2-FB538F530008}" type="presOf" srcId="{1E31D750-D116-46CD-AA86-4A03DF2BC8B0}" destId="{88E3019A-27C8-47B8-B15D-5E573152D718}" srcOrd="0" destOrd="0" presId="urn:microsoft.com/office/officeart/2005/8/layout/hierarchy1"/>
    <dgm:cxn modelId="{0E86EB24-295F-4FA0-86EE-1F40FD6D01F5}" type="presParOf" srcId="{E808CB09-FD4D-40B3-91B2-228A8D48FDFC}" destId="{483CB500-601C-43BF-99E2-3DC1392C4772}" srcOrd="0" destOrd="0" presId="urn:microsoft.com/office/officeart/2005/8/layout/hierarchy1"/>
    <dgm:cxn modelId="{E5A59990-BE4B-42D2-B1B2-19F38E5399E5}" type="presParOf" srcId="{483CB500-601C-43BF-99E2-3DC1392C4772}" destId="{C8BB99D0-508F-487D-9B2E-F2CED56FE5EC}" srcOrd="0" destOrd="0" presId="urn:microsoft.com/office/officeart/2005/8/layout/hierarchy1"/>
    <dgm:cxn modelId="{6A662383-69BF-4C23-AD71-E0DC08F5E499}" type="presParOf" srcId="{C8BB99D0-508F-487D-9B2E-F2CED56FE5EC}" destId="{63CFDE23-D11D-4F27-B3B9-7AC1895228AB}" srcOrd="0" destOrd="0" presId="urn:microsoft.com/office/officeart/2005/8/layout/hierarchy1"/>
    <dgm:cxn modelId="{99620342-3CFA-48C0-8B7F-2D40D16762D0}" type="presParOf" srcId="{C8BB99D0-508F-487D-9B2E-F2CED56FE5EC}" destId="{88E3019A-27C8-47B8-B15D-5E573152D718}" srcOrd="1" destOrd="0" presId="urn:microsoft.com/office/officeart/2005/8/layout/hierarchy1"/>
    <dgm:cxn modelId="{24A80E96-D950-46A6-8352-D08A45597678}" type="presParOf" srcId="{483CB500-601C-43BF-99E2-3DC1392C4772}" destId="{9A2E5627-756E-40C1-BA1A-3D00CC1EF52E}" srcOrd="1" destOrd="0" presId="urn:microsoft.com/office/officeart/2005/8/layout/hierarchy1"/>
    <dgm:cxn modelId="{A5E195E9-C267-4B39-A5A6-763AD39F7A48}" type="presParOf" srcId="{E808CB09-FD4D-40B3-91B2-228A8D48FDFC}" destId="{EF8DB015-F060-4CC7-A9DA-48EA2BEE21F8}" srcOrd="1" destOrd="0" presId="urn:microsoft.com/office/officeart/2005/8/layout/hierarchy1"/>
    <dgm:cxn modelId="{D0B5EA52-E5D6-45DF-BC07-5353B5F40518}" type="presParOf" srcId="{EF8DB015-F060-4CC7-A9DA-48EA2BEE21F8}" destId="{00A63599-80DC-4739-A3CD-18FDEC973D41}" srcOrd="0" destOrd="0" presId="urn:microsoft.com/office/officeart/2005/8/layout/hierarchy1"/>
    <dgm:cxn modelId="{F40C53D9-83A9-492A-9643-B09AEB66632B}" type="presParOf" srcId="{00A63599-80DC-4739-A3CD-18FDEC973D41}" destId="{BED93448-1909-4335-8FD2-3AEAC22E4D03}" srcOrd="0" destOrd="0" presId="urn:microsoft.com/office/officeart/2005/8/layout/hierarchy1"/>
    <dgm:cxn modelId="{8ED8ECDE-1CB0-4239-85B9-B8618F367B7E}" type="presParOf" srcId="{00A63599-80DC-4739-A3CD-18FDEC973D41}" destId="{BE9AA1DD-E581-4068-ADE7-6C6F00810A5D}" srcOrd="1" destOrd="0" presId="urn:microsoft.com/office/officeart/2005/8/layout/hierarchy1"/>
    <dgm:cxn modelId="{3579A3EC-4053-457F-8093-0D1D45566CF0}" type="presParOf" srcId="{EF8DB015-F060-4CC7-A9DA-48EA2BEE21F8}" destId="{CC2A377C-A00C-4000-AC8A-2DD33222ED21}" srcOrd="1" destOrd="0" presId="urn:microsoft.com/office/officeart/2005/8/layout/hierarchy1"/>
    <dgm:cxn modelId="{9F58E33A-0426-4C52-99E3-7C67F340230D}" type="presParOf" srcId="{E808CB09-FD4D-40B3-91B2-228A8D48FDFC}" destId="{1F086CDC-D268-4862-8910-31C88195635E}" srcOrd="2" destOrd="0" presId="urn:microsoft.com/office/officeart/2005/8/layout/hierarchy1"/>
    <dgm:cxn modelId="{C25477DD-77D5-43ED-A00F-FBFD041B85D0}" type="presParOf" srcId="{1F086CDC-D268-4862-8910-31C88195635E}" destId="{57A563A1-F91A-4075-9DCA-09788072EA92}" srcOrd="0" destOrd="0" presId="urn:microsoft.com/office/officeart/2005/8/layout/hierarchy1"/>
    <dgm:cxn modelId="{C585B2E0-C769-47D6-AB56-EB1F90AFF464}" type="presParOf" srcId="{57A563A1-F91A-4075-9DCA-09788072EA92}" destId="{46038ADE-3D28-42B5-83D3-0DD7E28E9A34}" srcOrd="0" destOrd="0" presId="urn:microsoft.com/office/officeart/2005/8/layout/hierarchy1"/>
    <dgm:cxn modelId="{36B3E276-5CDE-481C-873D-355FB3CD1D9C}" type="presParOf" srcId="{57A563A1-F91A-4075-9DCA-09788072EA92}" destId="{38AF42E0-DB20-4C05-B9B3-4A3BD58E54D1}" srcOrd="1" destOrd="0" presId="urn:microsoft.com/office/officeart/2005/8/layout/hierarchy1"/>
    <dgm:cxn modelId="{31B7CCE2-A735-492C-BE4D-530B43F7D9B2}" type="presParOf" srcId="{1F086CDC-D268-4862-8910-31C88195635E}" destId="{2E8A49BE-298F-4B23-BD8A-14A693EC1B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FD6614-BF9C-4BF7-A9D8-CCD53239C53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FAF14D-D0A0-4DDE-8E00-9C6816DA52E7}">
      <dgm:prSet custT="1"/>
      <dgm:spPr/>
      <dgm:t>
        <a:bodyPr/>
        <a:lstStyle/>
        <a:p>
          <a:r>
            <a:rPr lang="en-US" sz="2000" dirty="0"/>
            <a:t>Applied min-max normalization to numerical variables for NN, KNN, and SVM so larger-value attributes would not always dominate</a:t>
          </a:r>
        </a:p>
      </dgm:t>
    </dgm:pt>
    <dgm:pt modelId="{3AE4EC72-5407-4A66-85B6-E5E674CC767F}" type="parTrans" cxnId="{2A90F139-653C-40AC-9D92-3E11E3A4985F}">
      <dgm:prSet/>
      <dgm:spPr/>
      <dgm:t>
        <a:bodyPr/>
        <a:lstStyle/>
        <a:p>
          <a:endParaRPr lang="en-US"/>
        </a:p>
      </dgm:t>
    </dgm:pt>
    <dgm:pt modelId="{E2F9706E-2180-44F8-A12B-C7BC5F74448E}" type="sibTrans" cxnId="{2A90F139-653C-40AC-9D92-3E11E3A4985F}">
      <dgm:prSet/>
      <dgm:spPr/>
      <dgm:t>
        <a:bodyPr/>
        <a:lstStyle/>
        <a:p>
          <a:endParaRPr lang="en-US"/>
        </a:p>
      </dgm:t>
    </dgm:pt>
    <dgm:pt modelId="{1DB7ED2D-A6D5-4931-A496-1B4BA6A320A3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2000" dirty="0"/>
            <a:t>Converted categorical variables into binary dummy variables for NN, KNN, SVM</a:t>
          </a:r>
        </a:p>
      </dgm:t>
    </dgm:pt>
    <dgm:pt modelId="{50EAB5F4-1073-4F12-B4ED-8B2896CC5F0A}" type="parTrans" cxnId="{F3E52DD2-64FB-4CF3-A421-E4CE7D776193}">
      <dgm:prSet/>
      <dgm:spPr/>
      <dgm:t>
        <a:bodyPr/>
        <a:lstStyle/>
        <a:p>
          <a:endParaRPr lang="en-US"/>
        </a:p>
      </dgm:t>
    </dgm:pt>
    <dgm:pt modelId="{44A800AE-C70C-42BA-B6E0-B89A057961FD}" type="sibTrans" cxnId="{F3E52DD2-64FB-4CF3-A421-E4CE7D776193}">
      <dgm:prSet/>
      <dgm:spPr/>
      <dgm:t>
        <a:bodyPr/>
        <a:lstStyle/>
        <a:p>
          <a:endParaRPr lang="en-US"/>
        </a:p>
      </dgm:t>
    </dgm:pt>
    <dgm:pt modelId="{CB88D027-0CA6-4ECA-BF44-840F5FA6FE71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600" dirty="0"/>
            <a:t>Island </a:t>
          </a:r>
          <a:r>
            <a:rPr lang="en-US" sz="1600" dirty="0">
              <a:sym typeface="Wingdings" panose="05000000000000000000" pitchFamily="2" charset="2"/>
            </a:rPr>
            <a:t></a:t>
          </a:r>
          <a:r>
            <a:rPr lang="en-US" sz="1600" dirty="0"/>
            <a:t> </a:t>
          </a:r>
          <a:r>
            <a:rPr lang="en-US" sz="1600" dirty="0" err="1"/>
            <a:t>islandBiscoe</a:t>
          </a:r>
          <a:r>
            <a:rPr lang="en-US" sz="1600" dirty="0"/>
            <a:t>, </a:t>
          </a:r>
          <a:r>
            <a:rPr lang="en-US" sz="1600" dirty="0" err="1"/>
            <a:t>islandTorgersen</a:t>
          </a:r>
          <a:r>
            <a:rPr lang="en-US" sz="1600" dirty="0"/>
            <a:t>, </a:t>
          </a:r>
          <a:r>
            <a:rPr lang="en-US" sz="1600" dirty="0" err="1"/>
            <a:t>islandDream</a:t>
          </a:r>
          <a:r>
            <a:rPr lang="en-US" sz="1600" dirty="0"/>
            <a:t> = 0 or 1</a:t>
          </a:r>
        </a:p>
      </dgm:t>
    </dgm:pt>
    <dgm:pt modelId="{B59702BD-77E4-46A7-BD11-E4EA344DFC76}" type="parTrans" cxnId="{1B75A366-E831-4AED-A245-EB925E1AECE9}">
      <dgm:prSet/>
      <dgm:spPr/>
      <dgm:t>
        <a:bodyPr/>
        <a:lstStyle/>
        <a:p>
          <a:endParaRPr lang="en-US"/>
        </a:p>
      </dgm:t>
    </dgm:pt>
    <dgm:pt modelId="{AD2FA3B6-E6DC-41A1-A9F8-A858A8FBF6D0}" type="sibTrans" cxnId="{1B75A366-E831-4AED-A245-EB925E1AECE9}">
      <dgm:prSet/>
      <dgm:spPr/>
      <dgm:t>
        <a:bodyPr/>
        <a:lstStyle/>
        <a:p>
          <a:endParaRPr lang="en-US"/>
        </a:p>
      </dgm:t>
    </dgm:pt>
    <dgm:pt modelId="{007DB14D-54AE-4ED5-AA19-AAAD804FC4B1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600" dirty="0"/>
            <a:t>Sex </a:t>
          </a:r>
          <a:r>
            <a:rPr lang="en-US" sz="1600" dirty="0">
              <a:sym typeface="Wingdings" panose="05000000000000000000" pitchFamily="2" charset="2"/>
            </a:rPr>
            <a:t></a:t>
          </a:r>
          <a:r>
            <a:rPr lang="en-US" sz="1600" dirty="0"/>
            <a:t> </a:t>
          </a:r>
          <a:r>
            <a:rPr lang="en-US" sz="1600" dirty="0" err="1"/>
            <a:t>sexMale</a:t>
          </a:r>
          <a:r>
            <a:rPr lang="en-US" sz="1600" dirty="0"/>
            <a:t>, </a:t>
          </a:r>
          <a:r>
            <a:rPr lang="en-US" sz="1600" dirty="0" err="1"/>
            <a:t>sexFemale</a:t>
          </a:r>
          <a:r>
            <a:rPr lang="en-US" sz="1600" dirty="0"/>
            <a:t> = 0 or 1</a:t>
          </a:r>
        </a:p>
      </dgm:t>
    </dgm:pt>
    <dgm:pt modelId="{DBC3E57B-4C68-4392-B82A-4A45C4667E7A}" type="parTrans" cxnId="{0B5666B0-6E4A-4707-BBF5-CAE07D810A69}">
      <dgm:prSet/>
      <dgm:spPr/>
      <dgm:t>
        <a:bodyPr/>
        <a:lstStyle/>
        <a:p>
          <a:endParaRPr lang="en-US"/>
        </a:p>
      </dgm:t>
    </dgm:pt>
    <dgm:pt modelId="{4BD8A1FD-577E-4C8B-9AEA-01D09FDD770D}" type="sibTrans" cxnId="{0B5666B0-6E4A-4707-BBF5-CAE07D810A69}">
      <dgm:prSet/>
      <dgm:spPr/>
      <dgm:t>
        <a:bodyPr/>
        <a:lstStyle/>
        <a:p>
          <a:endParaRPr lang="en-US"/>
        </a:p>
      </dgm:t>
    </dgm:pt>
    <dgm:pt modelId="{02AD9D14-F451-4144-A096-A57E4010F36E}" type="pres">
      <dgm:prSet presAssocID="{BCFD6614-BF9C-4BF7-A9D8-CCD53239C534}" presName="outerComposite" presStyleCnt="0">
        <dgm:presLayoutVars>
          <dgm:chMax val="5"/>
          <dgm:dir/>
          <dgm:resizeHandles val="exact"/>
        </dgm:presLayoutVars>
      </dgm:prSet>
      <dgm:spPr/>
    </dgm:pt>
    <dgm:pt modelId="{C7C79D08-7988-4048-9847-A4015EA16E85}" type="pres">
      <dgm:prSet presAssocID="{BCFD6614-BF9C-4BF7-A9D8-CCD53239C534}" presName="dummyMaxCanvas" presStyleCnt="0">
        <dgm:presLayoutVars/>
      </dgm:prSet>
      <dgm:spPr/>
    </dgm:pt>
    <dgm:pt modelId="{3E5AE1FB-69F1-4629-9AEF-E37B4CDD4839}" type="pres">
      <dgm:prSet presAssocID="{BCFD6614-BF9C-4BF7-A9D8-CCD53239C534}" presName="TwoNodes_1" presStyleLbl="node1" presStyleIdx="0" presStyleCnt="2" custLinFactNeighborX="-28367" custLinFactNeighborY="-3846">
        <dgm:presLayoutVars>
          <dgm:bulletEnabled val="1"/>
        </dgm:presLayoutVars>
      </dgm:prSet>
      <dgm:spPr/>
    </dgm:pt>
    <dgm:pt modelId="{AD84C1CB-DAC6-4497-8668-3168C7885DFC}" type="pres">
      <dgm:prSet presAssocID="{BCFD6614-BF9C-4BF7-A9D8-CCD53239C534}" presName="TwoNodes_2" presStyleLbl="node1" presStyleIdx="1" presStyleCnt="2">
        <dgm:presLayoutVars>
          <dgm:bulletEnabled val="1"/>
        </dgm:presLayoutVars>
      </dgm:prSet>
      <dgm:spPr/>
    </dgm:pt>
    <dgm:pt modelId="{8D6190D9-E88B-416A-9AF2-2EAFA92B2F46}" type="pres">
      <dgm:prSet presAssocID="{BCFD6614-BF9C-4BF7-A9D8-CCD53239C534}" presName="TwoConn_1-2" presStyleLbl="fgAccFollowNode1" presStyleIdx="0" presStyleCnt="1">
        <dgm:presLayoutVars>
          <dgm:bulletEnabled val="1"/>
        </dgm:presLayoutVars>
      </dgm:prSet>
      <dgm:spPr/>
    </dgm:pt>
    <dgm:pt modelId="{7661E2FC-6617-49FA-94D6-13B338252499}" type="pres">
      <dgm:prSet presAssocID="{BCFD6614-BF9C-4BF7-A9D8-CCD53239C534}" presName="TwoNodes_1_text" presStyleLbl="node1" presStyleIdx="1" presStyleCnt="2">
        <dgm:presLayoutVars>
          <dgm:bulletEnabled val="1"/>
        </dgm:presLayoutVars>
      </dgm:prSet>
      <dgm:spPr/>
    </dgm:pt>
    <dgm:pt modelId="{E6932F83-7805-45E5-87C7-8021D8E8E7EB}" type="pres">
      <dgm:prSet presAssocID="{BCFD6614-BF9C-4BF7-A9D8-CCD53239C534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39337320-5B91-4A29-8047-C7D312D8E968}" type="presOf" srcId="{CB88D027-0CA6-4ECA-BF44-840F5FA6FE71}" destId="{AD84C1CB-DAC6-4497-8668-3168C7885DFC}" srcOrd="0" destOrd="1" presId="urn:microsoft.com/office/officeart/2005/8/layout/vProcess5"/>
    <dgm:cxn modelId="{3AE1AB2B-3DD7-4463-9A73-770AE6A263C9}" type="presOf" srcId="{BCFD6614-BF9C-4BF7-A9D8-CCD53239C534}" destId="{02AD9D14-F451-4144-A096-A57E4010F36E}" srcOrd="0" destOrd="0" presId="urn:microsoft.com/office/officeart/2005/8/layout/vProcess5"/>
    <dgm:cxn modelId="{2A90F139-653C-40AC-9D92-3E11E3A4985F}" srcId="{BCFD6614-BF9C-4BF7-A9D8-CCD53239C534}" destId="{CEFAF14D-D0A0-4DDE-8E00-9C6816DA52E7}" srcOrd="0" destOrd="0" parTransId="{3AE4EC72-5407-4A66-85B6-E5E674CC767F}" sibTransId="{E2F9706E-2180-44F8-A12B-C7BC5F74448E}"/>
    <dgm:cxn modelId="{1B75A366-E831-4AED-A245-EB925E1AECE9}" srcId="{1DB7ED2D-A6D5-4931-A496-1B4BA6A320A3}" destId="{CB88D027-0CA6-4ECA-BF44-840F5FA6FE71}" srcOrd="0" destOrd="0" parTransId="{B59702BD-77E4-46A7-BD11-E4EA344DFC76}" sibTransId="{AD2FA3B6-E6DC-41A1-A9F8-A858A8FBF6D0}"/>
    <dgm:cxn modelId="{1368CC46-39E0-4328-B5FB-8B755940E4FC}" type="presOf" srcId="{007DB14D-54AE-4ED5-AA19-AAAD804FC4B1}" destId="{AD84C1CB-DAC6-4497-8668-3168C7885DFC}" srcOrd="0" destOrd="2" presId="urn:microsoft.com/office/officeart/2005/8/layout/vProcess5"/>
    <dgm:cxn modelId="{BE7ACE4A-E46E-48F9-BE0E-B915B52E9E59}" type="presOf" srcId="{007DB14D-54AE-4ED5-AA19-AAAD804FC4B1}" destId="{E6932F83-7805-45E5-87C7-8021D8E8E7EB}" srcOrd="1" destOrd="2" presId="urn:microsoft.com/office/officeart/2005/8/layout/vProcess5"/>
    <dgm:cxn modelId="{2C265975-011A-4B04-994D-4D75B3157070}" type="presOf" srcId="{1DB7ED2D-A6D5-4931-A496-1B4BA6A320A3}" destId="{AD84C1CB-DAC6-4497-8668-3168C7885DFC}" srcOrd="0" destOrd="0" presId="urn:microsoft.com/office/officeart/2005/8/layout/vProcess5"/>
    <dgm:cxn modelId="{B85D0459-235A-4D3C-A0EC-B65B5B16DBE3}" type="presOf" srcId="{1DB7ED2D-A6D5-4931-A496-1B4BA6A320A3}" destId="{E6932F83-7805-45E5-87C7-8021D8E8E7EB}" srcOrd="1" destOrd="0" presId="urn:microsoft.com/office/officeart/2005/8/layout/vProcess5"/>
    <dgm:cxn modelId="{0B5666B0-6E4A-4707-BBF5-CAE07D810A69}" srcId="{1DB7ED2D-A6D5-4931-A496-1B4BA6A320A3}" destId="{007DB14D-54AE-4ED5-AA19-AAAD804FC4B1}" srcOrd="1" destOrd="0" parTransId="{DBC3E57B-4C68-4392-B82A-4A45C4667E7A}" sibTransId="{4BD8A1FD-577E-4C8B-9AEA-01D09FDD770D}"/>
    <dgm:cxn modelId="{595268B4-F004-4466-AA14-DB3BA9EE6530}" type="presOf" srcId="{CB88D027-0CA6-4ECA-BF44-840F5FA6FE71}" destId="{E6932F83-7805-45E5-87C7-8021D8E8E7EB}" srcOrd="1" destOrd="1" presId="urn:microsoft.com/office/officeart/2005/8/layout/vProcess5"/>
    <dgm:cxn modelId="{9E8DE9CB-F2E4-41D8-AD7B-2263BFF85D2E}" type="presOf" srcId="{CEFAF14D-D0A0-4DDE-8E00-9C6816DA52E7}" destId="{3E5AE1FB-69F1-4629-9AEF-E37B4CDD4839}" srcOrd="0" destOrd="0" presId="urn:microsoft.com/office/officeart/2005/8/layout/vProcess5"/>
    <dgm:cxn modelId="{F3E52DD2-64FB-4CF3-A421-E4CE7D776193}" srcId="{BCFD6614-BF9C-4BF7-A9D8-CCD53239C534}" destId="{1DB7ED2D-A6D5-4931-A496-1B4BA6A320A3}" srcOrd="1" destOrd="0" parTransId="{50EAB5F4-1073-4F12-B4ED-8B2896CC5F0A}" sibTransId="{44A800AE-C70C-42BA-B6E0-B89A057961FD}"/>
    <dgm:cxn modelId="{0F039DEA-D477-491A-8490-8AF65E6F5D39}" type="presOf" srcId="{CEFAF14D-D0A0-4DDE-8E00-9C6816DA52E7}" destId="{7661E2FC-6617-49FA-94D6-13B338252499}" srcOrd="1" destOrd="0" presId="urn:microsoft.com/office/officeart/2005/8/layout/vProcess5"/>
    <dgm:cxn modelId="{1E0913F6-3AFF-4230-8054-1B60A47DC5D1}" type="presOf" srcId="{E2F9706E-2180-44F8-A12B-C7BC5F74448E}" destId="{8D6190D9-E88B-416A-9AF2-2EAFA92B2F46}" srcOrd="0" destOrd="0" presId="urn:microsoft.com/office/officeart/2005/8/layout/vProcess5"/>
    <dgm:cxn modelId="{33AB4516-6FF9-4F42-927E-ECD1FCA837C8}" type="presParOf" srcId="{02AD9D14-F451-4144-A096-A57E4010F36E}" destId="{C7C79D08-7988-4048-9847-A4015EA16E85}" srcOrd="0" destOrd="0" presId="urn:microsoft.com/office/officeart/2005/8/layout/vProcess5"/>
    <dgm:cxn modelId="{085711B3-3904-403E-A3C3-440D625F2C78}" type="presParOf" srcId="{02AD9D14-F451-4144-A096-A57E4010F36E}" destId="{3E5AE1FB-69F1-4629-9AEF-E37B4CDD4839}" srcOrd="1" destOrd="0" presId="urn:microsoft.com/office/officeart/2005/8/layout/vProcess5"/>
    <dgm:cxn modelId="{302299B0-7922-4B6F-A1EE-2562EE9202C0}" type="presParOf" srcId="{02AD9D14-F451-4144-A096-A57E4010F36E}" destId="{AD84C1CB-DAC6-4497-8668-3168C7885DFC}" srcOrd="2" destOrd="0" presId="urn:microsoft.com/office/officeart/2005/8/layout/vProcess5"/>
    <dgm:cxn modelId="{A98DE4DA-8947-4147-B664-FAE59136D34A}" type="presParOf" srcId="{02AD9D14-F451-4144-A096-A57E4010F36E}" destId="{8D6190D9-E88B-416A-9AF2-2EAFA92B2F46}" srcOrd="3" destOrd="0" presId="urn:microsoft.com/office/officeart/2005/8/layout/vProcess5"/>
    <dgm:cxn modelId="{9F800653-F615-43A1-86AC-A97F1AF2F14F}" type="presParOf" srcId="{02AD9D14-F451-4144-A096-A57E4010F36E}" destId="{7661E2FC-6617-49FA-94D6-13B338252499}" srcOrd="4" destOrd="0" presId="urn:microsoft.com/office/officeart/2005/8/layout/vProcess5"/>
    <dgm:cxn modelId="{C8A921FD-5291-41DD-B358-9AC077149F5E}" type="presParOf" srcId="{02AD9D14-F451-4144-A096-A57E4010F36E}" destId="{E6932F83-7805-45E5-87C7-8021D8E8E7E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62632D-EC31-4A03-AF13-0501E0A200E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6EAEE9-34A1-4999-A68F-ADF28B64F224}">
      <dgm:prSet custT="1"/>
      <dgm:spPr>
        <a:ln w="28575">
          <a:solidFill>
            <a:schemeClr val="accent4"/>
          </a:solidFill>
        </a:ln>
      </dgm:spPr>
      <dgm:t>
        <a:bodyPr/>
        <a:lstStyle/>
        <a:p>
          <a:r>
            <a:rPr lang="en-US" sz="2400" dirty="0">
              <a:solidFill>
                <a:schemeClr val="tx2"/>
              </a:solidFill>
            </a:rPr>
            <a:t>Probabilistic classification model</a:t>
          </a:r>
        </a:p>
      </dgm:t>
    </dgm:pt>
    <dgm:pt modelId="{904353F9-6C18-44EC-9DA3-7E05285CBA30}" type="parTrans" cxnId="{52C75EE1-9B6D-40AF-AD1A-12C5F6041914}">
      <dgm:prSet/>
      <dgm:spPr/>
      <dgm:t>
        <a:bodyPr/>
        <a:lstStyle/>
        <a:p>
          <a:endParaRPr lang="en-US"/>
        </a:p>
      </dgm:t>
    </dgm:pt>
    <dgm:pt modelId="{0F4A57BF-28A4-4AFC-9503-8A38CB64BCA9}" type="sibTrans" cxnId="{52C75EE1-9B6D-40AF-AD1A-12C5F6041914}">
      <dgm:prSet/>
      <dgm:spPr/>
      <dgm:t>
        <a:bodyPr/>
        <a:lstStyle/>
        <a:p>
          <a:endParaRPr lang="en-US"/>
        </a:p>
      </dgm:t>
    </dgm:pt>
    <dgm:pt modelId="{18EAB119-4C51-40B1-81FB-AB033F73A824}">
      <dgm:prSet custT="1"/>
      <dgm:spPr>
        <a:ln w="28575">
          <a:solidFill>
            <a:schemeClr val="accent4"/>
          </a:solidFill>
        </a:ln>
      </dgm:spPr>
      <dgm:t>
        <a:bodyPr/>
        <a:lstStyle/>
        <a:p>
          <a:r>
            <a:rPr lang="en-US" sz="2400" dirty="0">
              <a:solidFill>
                <a:schemeClr val="tx2"/>
              </a:solidFill>
            </a:rPr>
            <a:t>Partial model using only culmen measurements achieved ~92% accuracy</a:t>
          </a:r>
        </a:p>
      </dgm:t>
    </dgm:pt>
    <dgm:pt modelId="{50E7B8CD-AF6D-45CF-BDEB-15714EA03D72}" type="parTrans" cxnId="{4271C0A9-24C9-43EE-9BE3-EE93B7B2E0F6}">
      <dgm:prSet/>
      <dgm:spPr/>
      <dgm:t>
        <a:bodyPr/>
        <a:lstStyle/>
        <a:p>
          <a:endParaRPr lang="en-US"/>
        </a:p>
      </dgm:t>
    </dgm:pt>
    <dgm:pt modelId="{610B5B86-36CD-4EF8-9E0C-5F690EC0B377}" type="sibTrans" cxnId="{4271C0A9-24C9-43EE-9BE3-EE93B7B2E0F6}">
      <dgm:prSet/>
      <dgm:spPr/>
      <dgm:t>
        <a:bodyPr/>
        <a:lstStyle/>
        <a:p>
          <a:endParaRPr lang="en-US"/>
        </a:p>
      </dgm:t>
    </dgm:pt>
    <dgm:pt modelId="{A5E3D49E-B398-4659-988E-1E0419C6A3F9}">
      <dgm:prSet custT="1"/>
      <dgm:spPr>
        <a:ln w="28575">
          <a:solidFill>
            <a:schemeClr val="accent4"/>
          </a:solidFill>
        </a:ln>
      </dgm:spPr>
      <dgm:t>
        <a:bodyPr/>
        <a:lstStyle/>
        <a:p>
          <a:r>
            <a:rPr lang="en-US" sz="2400" dirty="0">
              <a:solidFill>
                <a:schemeClr val="tx2"/>
              </a:solidFill>
            </a:rPr>
            <a:t>Full model will all predictors achieved near-perfect accuracy</a:t>
          </a:r>
        </a:p>
      </dgm:t>
    </dgm:pt>
    <dgm:pt modelId="{1284412D-AC51-4235-B22B-24ABF7760A03}" type="parTrans" cxnId="{A743C97A-9A79-4865-A624-E20899A2429C}">
      <dgm:prSet/>
      <dgm:spPr/>
      <dgm:t>
        <a:bodyPr/>
        <a:lstStyle/>
        <a:p>
          <a:endParaRPr lang="en-US"/>
        </a:p>
      </dgm:t>
    </dgm:pt>
    <dgm:pt modelId="{B4850346-AD88-4614-8507-8BAB9A580BEA}" type="sibTrans" cxnId="{A743C97A-9A79-4865-A624-E20899A2429C}">
      <dgm:prSet/>
      <dgm:spPr/>
      <dgm:t>
        <a:bodyPr/>
        <a:lstStyle/>
        <a:p>
          <a:endParaRPr lang="en-US"/>
        </a:p>
      </dgm:t>
    </dgm:pt>
    <dgm:pt modelId="{4121DC39-869F-4EE0-A5BF-C824DDBD6BAA}" type="pres">
      <dgm:prSet presAssocID="{D462632D-EC31-4A03-AF13-0501E0A200E4}" presName="linear" presStyleCnt="0">
        <dgm:presLayoutVars>
          <dgm:animLvl val="lvl"/>
          <dgm:resizeHandles val="exact"/>
        </dgm:presLayoutVars>
      </dgm:prSet>
      <dgm:spPr/>
    </dgm:pt>
    <dgm:pt modelId="{4F5C3D99-98A3-45D2-AE5C-C0130D235638}" type="pres">
      <dgm:prSet presAssocID="{CD6EAEE9-34A1-4999-A68F-ADF28B64F2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B87A06-1390-4078-85FD-A71D1816A6AF}" type="pres">
      <dgm:prSet presAssocID="{0F4A57BF-28A4-4AFC-9503-8A38CB64BCA9}" presName="spacer" presStyleCnt="0"/>
      <dgm:spPr/>
    </dgm:pt>
    <dgm:pt modelId="{0B407E81-6887-46CB-AC10-97C3EF9AB20C}" type="pres">
      <dgm:prSet presAssocID="{18EAB119-4C51-40B1-81FB-AB033F73A82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0B1D4C-25C4-4D9D-9CBB-283FA2080AF4}" type="pres">
      <dgm:prSet presAssocID="{610B5B86-36CD-4EF8-9E0C-5F690EC0B377}" presName="spacer" presStyleCnt="0"/>
      <dgm:spPr/>
    </dgm:pt>
    <dgm:pt modelId="{AD026867-343E-4ACE-9111-8C6788CF024D}" type="pres">
      <dgm:prSet presAssocID="{A5E3D49E-B398-4659-988E-1E0419C6A3F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1192C01-CF26-4D99-BCAA-6BC832AEDE1C}" type="presOf" srcId="{D462632D-EC31-4A03-AF13-0501E0A200E4}" destId="{4121DC39-869F-4EE0-A5BF-C824DDBD6BAA}" srcOrd="0" destOrd="0" presId="urn:microsoft.com/office/officeart/2005/8/layout/vList2"/>
    <dgm:cxn modelId="{A743C97A-9A79-4865-A624-E20899A2429C}" srcId="{D462632D-EC31-4A03-AF13-0501E0A200E4}" destId="{A5E3D49E-B398-4659-988E-1E0419C6A3F9}" srcOrd="2" destOrd="0" parTransId="{1284412D-AC51-4235-B22B-24ABF7760A03}" sibTransId="{B4850346-AD88-4614-8507-8BAB9A580BEA}"/>
    <dgm:cxn modelId="{5353419F-FD0C-4DA6-9617-FB03E45B118C}" type="presOf" srcId="{18EAB119-4C51-40B1-81FB-AB033F73A824}" destId="{0B407E81-6887-46CB-AC10-97C3EF9AB20C}" srcOrd="0" destOrd="0" presId="urn:microsoft.com/office/officeart/2005/8/layout/vList2"/>
    <dgm:cxn modelId="{90A538A4-D0EB-4A79-A8FE-C0882F5E03B4}" type="presOf" srcId="{A5E3D49E-B398-4659-988E-1E0419C6A3F9}" destId="{AD026867-343E-4ACE-9111-8C6788CF024D}" srcOrd="0" destOrd="0" presId="urn:microsoft.com/office/officeart/2005/8/layout/vList2"/>
    <dgm:cxn modelId="{4271C0A9-24C9-43EE-9BE3-EE93B7B2E0F6}" srcId="{D462632D-EC31-4A03-AF13-0501E0A200E4}" destId="{18EAB119-4C51-40B1-81FB-AB033F73A824}" srcOrd="1" destOrd="0" parTransId="{50E7B8CD-AF6D-45CF-BDEB-15714EA03D72}" sibTransId="{610B5B86-36CD-4EF8-9E0C-5F690EC0B377}"/>
    <dgm:cxn modelId="{7D59DDB5-C13D-4A8C-973D-FE4AD6D229A4}" type="presOf" srcId="{CD6EAEE9-34A1-4999-A68F-ADF28B64F224}" destId="{4F5C3D99-98A3-45D2-AE5C-C0130D235638}" srcOrd="0" destOrd="0" presId="urn:microsoft.com/office/officeart/2005/8/layout/vList2"/>
    <dgm:cxn modelId="{52C75EE1-9B6D-40AF-AD1A-12C5F6041914}" srcId="{D462632D-EC31-4A03-AF13-0501E0A200E4}" destId="{CD6EAEE9-34A1-4999-A68F-ADF28B64F224}" srcOrd="0" destOrd="0" parTransId="{904353F9-6C18-44EC-9DA3-7E05285CBA30}" sibTransId="{0F4A57BF-28A4-4AFC-9503-8A38CB64BCA9}"/>
    <dgm:cxn modelId="{B79376EE-FFFD-4093-8A84-73A0F3BF0FFB}" type="presParOf" srcId="{4121DC39-869F-4EE0-A5BF-C824DDBD6BAA}" destId="{4F5C3D99-98A3-45D2-AE5C-C0130D235638}" srcOrd="0" destOrd="0" presId="urn:microsoft.com/office/officeart/2005/8/layout/vList2"/>
    <dgm:cxn modelId="{E767D898-BB05-451A-BD05-1558DEF2D8B2}" type="presParOf" srcId="{4121DC39-869F-4EE0-A5BF-C824DDBD6BAA}" destId="{3DB87A06-1390-4078-85FD-A71D1816A6AF}" srcOrd="1" destOrd="0" presId="urn:microsoft.com/office/officeart/2005/8/layout/vList2"/>
    <dgm:cxn modelId="{CF0F32A3-D881-4745-969E-D78D3A543200}" type="presParOf" srcId="{4121DC39-869F-4EE0-A5BF-C824DDBD6BAA}" destId="{0B407E81-6887-46CB-AC10-97C3EF9AB20C}" srcOrd="2" destOrd="0" presId="urn:microsoft.com/office/officeart/2005/8/layout/vList2"/>
    <dgm:cxn modelId="{17A01865-5197-4577-97AF-92F04289A06A}" type="presParOf" srcId="{4121DC39-869F-4EE0-A5BF-C824DDBD6BAA}" destId="{0C0B1D4C-25C4-4D9D-9CBB-283FA2080AF4}" srcOrd="3" destOrd="0" presId="urn:microsoft.com/office/officeart/2005/8/layout/vList2"/>
    <dgm:cxn modelId="{F88A2FB1-A0A7-42D8-98D9-51FB403DF48D}" type="presParOf" srcId="{4121DC39-869F-4EE0-A5BF-C824DDBD6BAA}" destId="{AD026867-343E-4ACE-9111-8C6788CF02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FDE23-D11D-4F27-B3B9-7AC1895228AB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3019A-27C8-47B8-B15D-5E573152D718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Removed observations containing missing values</a:t>
          </a:r>
        </a:p>
      </dsp:txBody>
      <dsp:txXfrm>
        <a:off x="374352" y="843542"/>
        <a:ext cx="2778721" cy="1725303"/>
      </dsp:txXfrm>
    </dsp:sp>
    <dsp:sp modelId="{BED93448-1909-4335-8FD2-3AEAC22E4D03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AA1DD-E581-4068-ADE7-6C6F00810A5D}">
      <dsp:nvSpPr>
        <dsp:cNvPr id="0" name=""/>
        <dsp:cNvSpPr/>
      </dsp:nvSpPr>
      <dsp:spPr>
        <a:xfrm>
          <a:off x="3848099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Converted categorical variables to factors data types for modeling compatibility</a:t>
          </a:r>
        </a:p>
      </dsp:txBody>
      <dsp:txXfrm>
        <a:off x="3901776" y="843542"/>
        <a:ext cx="2778721" cy="1725303"/>
      </dsp:txXfrm>
    </dsp:sp>
    <dsp:sp modelId="{46038ADE-3D28-42B5-83D3-0DD7E28E9A34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F42E0-DB20-4C05-B9B3-4A3BD58E54D1}">
      <dsp:nvSpPr>
        <dsp:cNvPr id="0" name=""/>
        <dsp:cNvSpPr/>
      </dsp:nvSpPr>
      <dsp:spPr>
        <a:xfrm>
          <a:off x="7375524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Split dataset into 70% training data and 30% testing data</a:t>
          </a:r>
        </a:p>
      </dsp:txBody>
      <dsp:txXfrm>
        <a:off x="7429201" y="843542"/>
        <a:ext cx="2778721" cy="1725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AE1FB-69F1-4629-9AEF-E37B4CDD4839}">
      <dsp:nvSpPr>
        <dsp:cNvPr id="0" name=""/>
        <dsp:cNvSpPr/>
      </dsp:nvSpPr>
      <dsp:spPr>
        <a:xfrm>
          <a:off x="0" y="0"/>
          <a:ext cx="8722360" cy="13984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Applied min-max normalization to numerical variables for NN, KNN, and SVM so larger-value attributes would not always dominate</a:t>
          </a:r>
        </a:p>
      </dsp:txBody>
      <dsp:txXfrm>
        <a:off x="40960" y="40960"/>
        <a:ext cx="7276915" cy="1316566"/>
      </dsp:txXfrm>
    </dsp:sp>
    <dsp:sp modelId="{AD84C1CB-DAC6-4497-8668-3168C7885DFC}">
      <dsp:nvSpPr>
        <dsp:cNvPr id="0" name=""/>
        <dsp:cNvSpPr/>
      </dsp:nvSpPr>
      <dsp:spPr>
        <a:xfrm>
          <a:off x="1539239" y="1709261"/>
          <a:ext cx="8722360" cy="1398486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Converted categorical variables into binary dummy variables for NN, KNN, SVM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Island </a:t>
          </a:r>
          <a:r>
            <a:rPr lang="en-US" sz="1600" kern="1200" dirty="0">
              <a:sym typeface="Wingdings" panose="05000000000000000000" pitchFamily="2" charset="2"/>
            </a:rPr>
            <a:t></a:t>
          </a:r>
          <a:r>
            <a:rPr lang="en-US" sz="1600" kern="1200" dirty="0"/>
            <a:t> </a:t>
          </a:r>
          <a:r>
            <a:rPr lang="en-US" sz="1600" kern="1200" dirty="0" err="1"/>
            <a:t>islandBiscoe</a:t>
          </a:r>
          <a:r>
            <a:rPr lang="en-US" sz="1600" kern="1200" dirty="0"/>
            <a:t>, </a:t>
          </a:r>
          <a:r>
            <a:rPr lang="en-US" sz="1600" kern="1200" dirty="0" err="1"/>
            <a:t>islandTorgersen</a:t>
          </a:r>
          <a:r>
            <a:rPr lang="en-US" sz="1600" kern="1200" dirty="0"/>
            <a:t>, </a:t>
          </a:r>
          <a:r>
            <a:rPr lang="en-US" sz="1600" kern="1200" dirty="0" err="1"/>
            <a:t>islandDream</a:t>
          </a:r>
          <a:r>
            <a:rPr lang="en-US" sz="1600" kern="1200" dirty="0"/>
            <a:t> = 0 or 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Sex </a:t>
          </a:r>
          <a:r>
            <a:rPr lang="en-US" sz="1600" kern="1200" dirty="0">
              <a:sym typeface="Wingdings" panose="05000000000000000000" pitchFamily="2" charset="2"/>
            </a:rPr>
            <a:t></a:t>
          </a:r>
          <a:r>
            <a:rPr lang="en-US" sz="1600" kern="1200" dirty="0"/>
            <a:t> </a:t>
          </a:r>
          <a:r>
            <a:rPr lang="en-US" sz="1600" kern="1200" dirty="0" err="1"/>
            <a:t>sexMale</a:t>
          </a:r>
          <a:r>
            <a:rPr lang="en-US" sz="1600" kern="1200" dirty="0"/>
            <a:t>, </a:t>
          </a:r>
          <a:r>
            <a:rPr lang="en-US" sz="1600" kern="1200" dirty="0" err="1"/>
            <a:t>sexFemale</a:t>
          </a:r>
          <a:r>
            <a:rPr lang="en-US" sz="1600" kern="1200" dirty="0"/>
            <a:t> = 0 or 1</a:t>
          </a:r>
        </a:p>
      </dsp:txBody>
      <dsp:txXfrm>
        <a:off x="1580199" y="1750221"/>
        <a:ext cx="6192183" cy="1316566"/>
      </dsp:txXfrm>
    </dsp:sp>
    <dsp:sp modelId="{8D6190D9-E88B-416A-9AF2-2EAFA92B2F46}">
      <dsp:nvSpPr>
        <dsp:cNvPr id="0" name=""/>
        <dsp:cNvSpPr/>
      </dsp:nvSpPr>
      <dsp:spPr>
        <a:xfrm>
          <a:off x="7813343" y="1099365"/>
          <a:ext cx="909016" cy="909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17872" y="1099365"/>
        <a:ext cx="499958" cy="6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C3D99-98A3-45D2-AE5C-C0130D235638}">
      <dsp:nvSpPr>
        <dsp:cNvPr id="0" name=""/>
        <dsp:cNvSpPr/>
      </dsp:nvSpPr>
      <dsp:spPr>
        <a:xfrm>
          <a:off x="0" y="11497"/>
          <a:ext cx="6883072" cy="917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Probabilistic classification model</a:t>
          </a:r>
        </a:p>
      </dsp:txBody>
      <dsp:txXfrm>
        <a:off x="44778" y="56275"/>
        <a:ext cx="6793516" cy="827724"/>
      </dsp:txXfrm>
    </dsp:sp>
    <dsp:sp modelId="{0B407E81-6887-46CB-AC10-97C3EF9AB20C}">
      <dsp:nvSpPr>
        <dsp:cNvPr id="0" name=""/>
        <dsp:cNvSpPr/>
      </dsp:nvSpPr>
      <dsp:spPr>
        <a:xfrm>
          <a:off x="0" y="1020937"/>
          <a:ext cx="6883072" cy="917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Partial model using only culmen measurements achieved ~92% accuracy</a:t>
          </a:r>
        </a:p>
      </dsp:txBody>
      <dsp:txXfrm>
        <a:off x="44778" y="1065715"/>
        <a:ext cx="6793516" cy="827724"/>
      </dsp:txXfrm>
    </dsp:sp>
    <dsp:sp modelId="{AD026867-343E-4ACE-9111-8C6788CF024D}">
      <dsp:nvSpPr>
        <dsp:cNvPr id="0" name=""/>
        <dsp:cNvSpPr/>
      </dsp:nvSpPr>
      <dsp:spPr>
        <a:xfrm>
          <a:off x="0" y="2030377"/>
          <a:ext cx="6883072" cy="917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Full model will all predictors achieved near-perfect accuracy</a:t>
          </a:r>
        </a:p>
      </dsp:txBody>
      <dsp:txXfrm>
        <a:off x="44778" y="2075155"/>
        <a:ext cx="6793516" cy="827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57AA9-6A6D-4B7F-B0BE-1E94EC11082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37B1A-BC7E-4542-9627-96BB00EEA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8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5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60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62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1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87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38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02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49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58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37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1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9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23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5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68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45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60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75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22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37B1A-BC7E-4542-9627-96BB00EEA6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4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25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7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2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3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0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8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7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5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9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E8F72A7-239B-4CC7-A543-3900BC0F73C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515968F-2769-4DAF-8545-643DF6275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7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mulyas/penguin-size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wo penguins gawking">
            <a:extLst>
              <a:ext uri="{FF2B5EF4-FFF2-40B4-BE49-F238E27FC236}">
                <a16:creationId xmlns:a16="http://schemas.microsoft.com/office/drawing/2014/main" id="{F40D90F6-D9C7-AEF5-D7F6-EFE1269EF6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30440" b="158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C0F879D-E2A1-EB62-63BE-0E3FBF3C1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5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Penguins Species Analysis Using Data Mining Algorithms in 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94F438-BACB-145F-71D1-9AF8375BB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1800" b="1" dirty="0">
                <a:ln w="9525">
                  <a:solidFill>
                    <a:schemeClr val="tx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Justin Vernieri</a:t>
            </a:r>
          </a:p>
          <a:p>
            <a:r>
              <a:rPr lang="en-US" sz="1800" b="1" dirty="0">
                <a:ln w="9525">
                  <a:solidFill>
                    <a:schemeClr val="tx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 Mining 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1860970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3F4A15-6C8A-8193-8855-A285EE78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wrap="square">
            <a:normAutofit/>
          </a:bodyPr>
          <a:lstStyle/>
          <a:p>
            <a:r>
              <a:rPr lang="en-US" sz="6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3785183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83232-B94E-D99E-DB7A-E0F7CDBD8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r>
              <a:rPr lang="en-US" sz="4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Dataset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B51C72-1F54-B530-62A1-DC34735FB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162" y="640079"/>
            <a:ext cx="6883072" cy="3072109"/>
          </a:xfr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Penguins size dataset containing biological measurements of 3 penguin species (Adelie, Chinstrap, Gentoo)</a:t>
            </a:r>
          </a:p>
          <a:p>
            <a:pPr>
              <a:lnSpc>
                <a:spcPct val="90000"/>
              </a:lnSpc>
            </a:pPr>
            <a:r>
              <a:rPr lang="en-US" dirty="0"/>
              <a:t>Source: </a:t>
            </a:r>
            <a:r>
              <a:rPr lang="en-US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endParaRPr lang="en-US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/>
              <a:t>344 observations</a:t>
            </a:r>
          </a:p>
          <a:p>
            <a:pPr>
              <a:lnSpc>
                <a:spcPct val="90000"/>
              </a:lnSpc>
            </a:pPr>
            <a:r>
              <a:rPr lang="en-US" dirty="0"/>
              <a:t>7 attributes: Species, Island, Culmen Length (mm), Culmen Depth (mm), Flipper Length (mm), Body Mass (g), Sex</a:t>
            </a:r>
          </a:p>
          <a:p>
            <a:pPr>
              <a:lnSpc>
                <a:spcPct val="90000"/>
              </a:lnSpc>
            </a:pPr>
            <a:r>
              <a:rPr lang="en-US" dirty="0"/>
              <a:t>Goal—analyze performance of different data mining algorithms on penguins dataset: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Decision Trees, Random Forest, Naïve Bayes, Neural Network, K-Nearest Neighbor, Support Vector Machine, K-Means Clustering, AdaBoost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44763E-1F5B-4192-9E84-267D8A649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223" y="3822192"/>
            <a:ext cx="6882951" cy="20684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013361-A314-4AA8-8C94-46622655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3905450"/>
            <a:ext cx="6720840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7866F-049F-9BBB-829A-5A4830B19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290" y="4562629"/>
            <a:ext cx="6528816" cy="587593"/>
          </a:xfrm>
          <a:prstGeom prst="rect">
            <a:avLst/>
          </a:prstGeom>
        </p:spPr>
      </p:pic>
      <p:pic>
        <p:nvPicPr>
          <p:cNvPr id="1026" name="Picture 2" descr="Penguin - free icon">
            <a:extLst>
              <a:ext uri="{FF2B5EF4-FFF2-40B4-BE49-F238E27FC236}">
                <a16:creationId xmlns:a16="http://schemas.microsoft.com/office/drawing/2014/main" id="{6B259C03-C4AE-8DDF-5424-D05F51C90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300" y="4841631"/>
            <a:ext cx="1070690" cy="10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DB41EAE-B976-473D-ABF2-3EB4E0BF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83100" cy="215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81427-08B7-A3EB-FEEC-A81A4572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001" b="40604"/>
          <a:stretch>
            <a:fillRect/>
          </a:stretch>
        </p:blipFill>
        <p:spPr>
          <a:xfrm>
            <a:off x="321734" y="3612300"/>
            <a:ext cx="4153326" cy="1193703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432C8D-6717-772A-1950-7AD0F4A0C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98"/>
          <a:stretch>
            <a:fillRect/>
          </a:stretch>
        </p:blipFill>
        <p:spPr>
          <a:xfrm>
            <a:off x="4804833" y="1585773"/>
            <a:ext cx="7065434" cy="1535919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D23AE6C-EF0E-4E92-B420-6BC009F8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2822" y="4724399"/>
            <a:ext cx="7414766" cy="21304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ceberg Hand Drawn Cartoon Style Illustration AI Generated 32187495 PNG">
            <a:extLst>
              <a:ext uri="{FF2B5EF4-FFF2-40B4-BE49-F238E27FC236}">
                <a16:creationId xmlns:a16="http://schemas.microsoft.com/office/drawing/2014/main" id="{B0E74CB7-784E-7788-A7D9-569358FE9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250" y="2892436"/>
            <a:ext cx="4282088" cy="428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enguin Transparent Transparent HQ PNG Download | FreePNGimg">
            <a:extLst>
              <a:ext uri="{FF2B5EF4-FFF2-40B4-BE49-F238E27FC236}">
                <a16:creationId xmlns:a16="http://schemas.microsoft.com/office/drawing/2014/main" id="{2CA6BCEA-10B0-7E08-B97B-705CAA7D5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830" y="4850819"/>
            <a:ext cx="854720" cy="93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77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EE2862-22F5-8C1B-C294-F81B750A0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8" r="917" b="-2"/>
          <a:stretch>
            <a:fillRect/>
          </a:stretch>
        </p:blipFill>
        <p:spPr>
          <a:xfrm>
            <a:off x="8532515" y="1973806"/>
            <a:ext cx="3524579" cy="2339352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31B9A-5236-B4CF-EA06-2FD2121A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75" y="610108"/>
            <a:ext cx="3363974" cy="1728044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wrap="square">
            <a:normAutofit/>
          </a:bodyPr>
          <a:lstStyle/>
          <a:p>
            <a:r>
              <a:rPr lang="en-U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DE1A1-1E43-4ED7-DE4B-B74630A17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76" y="2604685"/>
            <a:ext cx="3363974" cy="3787140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Gentoo species and Biscoe island represented the largest groups in the dataset</a:t>
            </a:r>
          </a:p>
          <a:p>
            <a:r>
              <a:rPr lang="en-US" dirty="0">
                <a:solidFill>
                  <a:schemeClr val="tx2"/>
                </a:solidFill>
              </a:rPr>
              <a:t>Numerical variables show noticeable variation among penguin species</a:t>
            </a:r>
          </a:p>
          <a:p>
            <a:r>
              <a:rPr lang="en-US" dirty="0">
                <a:solidFill>
                  <a:schemeClr val="tx2"/>
                </a:solidFill>
              </a:rPr>
              <a:t>Boxplots identified spread differences and potential outliers (ex. culmen shown to right)</a:t>
            </a:r>
          </a:p>
          <a:p>
            <a:r>
              <a:rPr lang="en-US" dirty="0">
                <a:solidFill>
                  <a:schemeClr val="tx2"/>
                </a:solidFill>
              </a:rPr>
              <a:t>Early exploratory analysis suggested strong predictive potential for 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2C22E-DE8E-4502-61DB-32CE637DC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16" y="224940"/>
            <a:ext cx="3524579" cy="2766443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EED407-CE3F-FE37-515E-310D22CAA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515" y="4498255"/>
            <a:ext cx="3524579" cy="2174648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CF8E5-2D84-37B9-CF22-351D8FCC5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1115" y="3148495"/>
            <a:ext cx="3524579" cy="2168307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FBC29D-AA0E-5DE8-B861-F9284E699052}"/>
              </a:ext>
            </a:extLst>
          </p:cNvPr>
          <p:cNvSpPr/>
          <p:nvPr/>
        </p:nvSpPr>
        <p:spPr>
          <a:xfrm>
            <a:off x="4831115" y="5473913"/>
            <a:ext cx="3524579" cy="1198989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D200F-FB91-A64E-A2CB-EC0CDAE8EE6A}"/>
              </a:ext>
            </a:extLst>
          </p:cNvPr>
          <p:cNvSpPr/>
          <p:nvPr/>
        </p:nvSpPr>
        <p:spPr>
          <a:xfrm>
            <a:off x="8532515" y="224940"/>
            <a:ext cx="3524579" cy="1563769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Penguin Transparent Transparent HQ PNG Download | FreePNGimg">
            <a:extLst>
              <a:ext uri="{FF2B5EF4-FFF2-40B4-BE49-F238E27FC236}">
                <a16:creationId xmlns:a16="http://schemas.microsoft.com/office/drawing/2014/main" id="{8C9AF8A5-EEC2-4494-DD9C-B7C6DD82C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916" y="826440"/>
            <a:ext cx="854720" cy="93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66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F316B4-6363-8C5E-A953-50DF20411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73887"/>
            <a:ext cx="4206240" cy="294436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93F877-70F6-3332-59F2-DC019B423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86197"/>
            <a:ext cx="4206240" cy="2986429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ABC744-9FCA-E98F-A889-B03285F44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35671"/>
            <a:ext cx="4206240" cy="294436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6B8505-F3FD-90C7-F4C2-6A490FBFB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640" y="3673887"/>
            <a:ext cx="4206240" cy="2954887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2" name="Picture 2" descr="Penguin - free icon">
            <a:extLst>
              <a:ext uri="{FF2B5EF4-FFF2-40B4-BE49-F238E27FC236}">
                <a16:creationId xmlns:a16="http://schemas.microsoft.com/office/drawing/2014/main" id="{E62B87B5-866C-1931-4B18-E0D857603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655" y="2358310"/>
            <a:ext cx="1070690" cy="10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25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2A9291-55AD-4DDC-8735-1BA5A1C98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1CB38F-E9F5-36B8-B75E-7B2A2955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wrap="square">
            <a:normAutofit/>
          </a:bodyPr>
          <a:lstStyle/>
          <a:p>
            <a:r>
              <a:rPr lang="en-US" sz="4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Data Cleaning &amp; Pre-Processing</a:t>
            </a:r>
          </a:p>
        </p:txBody>
      </p:sp>
    </p:spTree>
    <p:extLst>
      <p:ext uri="{BB962C8B-B14F-4D97-AF65-F5344CB8AC3E}">
        <p14:creationId xmlns:p14="http://schemas.microsoft.com/office/powerpoint/2010/main" val="19819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D55100-8C29-B514-D65A-EBF996B2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401990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rmAutofit fontScale="90000"/>
          </a:bodyPr>
          <a:lstStyle/>
          <a:p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Missing Values, Data Types, Training/Test Split</a:t>
            </a: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231D19B5-980F-371F-BC30-01FEEC66E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539229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58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E1D4842-F208-47E0-A3A4-6469A9F04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Penguin Transparent Transparent HQ PNG Download | FreePNGimg">
            <a:extLst>
              <a:ext uri="{FF2B5EF4-FFF2-40B4-BE49-F238E27FC236}">
                <a16:creationId xmlns:a16="http://schemas.microsoft.com/office/drawing/2014/main" id="{521A7508-A935-9879-811B-1CF6410B5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137" y="2490176"/>
            <a:ext cx="854720" cy="93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CC5FAA-873E-C0FE-D7D6-61184B2F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1186211"/>
            <a:ext cx="5291327" cy="1338434"/>
          </a:xfrm>
          <a:solidFill>
            <a:srgbClr val="FFFFFF"/>
          </a:solidFill>
          <a:ln w="28575">
            <a:solidFill>
              <a:schemeClr val="accent4"/>
            </a:solidFill>
          </a:ln>
        </p:spPr>
        <p:txBody>
          <a:bodyPr>
            <a:noAutofit/>
          </a:bodyPr>
          <a:lstStyle/>
          <a:p>
            <a:r>
              <a:rPr lang="en-US" sz="3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Correlation &amp; Feature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08331-DAEA-A1E5-CD85-609B3257D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09" y="2904603"/>
            <a:ext cx="5285791" cy="2860181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Numerical variables exhibited moderate-to-strong relationships </a:t>
            </a:r>
          </a:p>
          <a:p>
            <a:r>
              <a:rPr lang="en-US" dirty="0">
                <a:solidFill>
                  <a:schemeClr val="tx2"/>
                </a:solidFill>
              </a:rPr>
              <a:t>Strongest positive correlation: flipper length and body mass (~0.87)</a:t>
            </a:r>
          </a:p>
          <a:p>
            <a:r>
              <a:rPr lang="en-US" dirty="0">
                <a:solidFill>
                  <a:schemeClr val="tx2"/>
                </a:solidFill>
              </a:rPr>
              <a:t>No correlations exceeded the multicollinearity threshold of ±0.9 </a:t>
            </a:r>
            <a:r>
              <a:rPr lang="en-US" dirty="0">
                <a:solidFill>
                  <a:schemeClr val="tx2"/>
                </a:solidFill>
                <a:sym typeface="Wingdings" panose="05000000000000000000" pitchFamily="2" charset="2"/>
              </a:rPr>
              <a:t> all numerical variables were retained for modeling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sym typeface="Wingdings" panose="05000000000000000000" pitchFamily="2" charset="2"/>
              </a:rPr>
              <a:t>Scatterplot matrix suggests clustering among species with overlap for certain attributes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A3F55-015A-E3F7-F2EF-FA4DE9201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1" y="3621290"/>
            <a:ext cx="4490890" cy="3084310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04252-DFC0-939C-A40B-1CFCB5251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3151" y="131565"/>
            <a:ext cx="3894989" cy="331775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58773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62EC-714B-9B94-AF38-8C13BFEC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18565"/>
            <a:ext cx="3066937" cy="1534847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29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Principal Component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ED42-D21B-4135-605C-D12F50B26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551980"/>
            <a:ext cx="3063765" cy="3934164"/>
          </a:xfr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PCA was used to explore dimensionality reduction and overall dataset structure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Dimensionality reduction was ultimately unnecessary since no variables exceeded the correlation removal threshold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First principal component explained ~68.6% of total variance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First two principal components together explained ~88% of dataset variance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PCA projection showed relatively distinct clustering patterns among penguin species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8D839-8B61-3CA5-074D-360EA0CEF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366" y="1354688"/>
            <a:ext cx="6227064" cy="4156565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81518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27F5-9AE7-9F6D-FFCB-B8E314F8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39096"/>
            <a:ext cx="7729728" cy="1314316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35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Normalization &amp; Dummy Variable Encoding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E3E957-B021-887B-E0A2-32D78145A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958800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Penguin Transparent Transparent HQ PNG Download | FreePNGimg">
            <a:extLst>
              <a:ext uri="{FF2B5EF4-FFF2-40B4-BE49-F238E27FC236}">
                <a16:creationId xmlns:a16="http://schemas.microsoft.com/office/drawing/2014/main" id="{95F2B7E5-3ECA-26BD-8879-AD112D70D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725" y="4807350"/>
            <a:ext cx="854720" cy="93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946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F0EE20-ACAC-59D7-BF44-66046231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63323"/>
            <a:ext cx="8991600" cy="1692771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1" kern="1200" cap="none" spc="0" baseline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rPr>
              <a:t>Data Mining Algorithms (8)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937CA-1967-559F-2370-C160D0383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79220" y="5374888"/>
            <a:ext cx="3995955" cy="758282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Decision Tree, Random Forest, Naïve Bayes, Neural Network (NN), K-Nearest Neighbor (KNN), Support Vector Machine (SVM), K-Means Clustering, AdaBoost</a:t>
            </a:r>
            <a:endParaRPr lang="en-US" sz="130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36480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4465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307BAF-BE0F-731D-8D32-1566ADE9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08" y="293864"/>
            <a:ext cx="6004760" cy="1529579"/>
          </a:xfr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 wrap="square">
            <a:normAutofit fontScale="90000"/>
          </a:bodyPr>
          <a:lstStyle/>
          <a:p>
            <a:r>
              <a:rPr lang="en-US" sz="4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1: Decision Tree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F20DD4-8BCF-FACB-FE8C-B1011C0BA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32" y="2116581"/>
            <a:ext cx="6242715" cy="2304364"/>
          </a:xfr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 anchor="ctr">
            <a:normAutofit fontScale="92500"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Built interpretable tree-based classification models</a:t>
            </a:r>
          </a:p>
          <a:p>
            <a:r>
              <a:rPr lang="en-US" dirty="0">
                <a:solidFill>
                  <a:schemeClr val="tx2"/>
                </a:solidFill>
              </a:rPr>
              <a:t>Evaluated both </a:t>
            </a:r>
            <a:r>
              <a:rPr lang="en-US" dirty="0" err="1">
                <a:solidFill>
                  <a:schemeClr val="tx2"/>
                </a:solidFill>
              </a:rPr>
              <a:t>ctree</a:t>
            </a:r>
            <a:r>
              <a:rPr lang="en-US" dirty="0">
                <a:solidFill>
                  <a:schemeClr val="tx2"/>
                </a:solidFill>
              </a:rPr>
              <a:t> and </a:t>
            </a:r>
            <a:r>
              <a:rPr lang="en-US" dirty="0" err="1">
                <a:solidFill>
                  <a:schemeClr val="tx2"/>
                </a:solidFill>
              </a:rPr>
              <a:t>rpart</a:t>
            </a:r>
            <a:r>
              <a:rPr lang="en-US" dirty="0">
                <a:solidFill>
                  <a:schemeClr val="tx2"/>
                </a:solidFill>
              </a:rPr>
              <a:t> algorithms in R</a:t>
            </a:r>
          </a:p>
          <a:p>
            <a:r>
              <a:rPr lang="en-US" dirty="0">
                <a:solidFill>
                  <a:schemeClr val="tx2"/>
                </a:solidFill>
              </a:rPr>
              <a:t>Island, culmen &amp; flipper measurements were primary decision variables</a:t>
            </a:r>
          </a:p>
          <a:p>
            <a:r>
              <a:rPr lang="en-US" dirty="0">
                <a:solidFill>
                  <a:schemeClr val="tx2"/>
                </a:solidFill>
              </a:rPr>
              <a:t>Pruned </a:t>
            </a:r>
            <a:r>
              <a:rPr lang="en-US" dirty="0" err="1">
                <a:solidFill>
                  <a:schemeClr val="tx2"/>
                </a:solidFill>
              </a:rPr>
              <a:t>rpart</a:t>
            </a:r>
            <a:r>
              <a:rPr lang="en-US" dirty="0">
                <a:solidFill>
                  <a:schemeClr val="tx2"/>
                </a:solidFill>
              </a:rPr>
              <a:t> tree produced a simpler visualization while maintaining ~95% test accuracy</a:t>
            </a:r>
          </a:p>
          <a:p>
            <a:r>
              <a:rPr lang="en-US" dirty="0" err="1">
                <a:solidFill>
                  <a:schemeClr val="tx2"/>
                </a:solidFill>
              </a:rPr>
              <a:t>ctree</a:t>
            </a:r>
            <a:r>
              <a:rPr lang="en-US" dirty="0">
                <a:solidFill>
                  <a:schemeClr val="tx2"/>
                </a:solidFill>
              </a:rPr>
              <a:t> ~97% test accuracy</a:t>
            </a:r>
          </a:p>
        </p:txBody>
      </p:sp>
      <p:pic>
        <p:nvPicPr>
          <p:cNvPr id="2" name="Picture 2" descr="Penguin - free icon">
            <a:extLst>
              <a:ext uri="{FF2B5EF4-FFF2-40B4-BE49-F238E27FC236}">
                <a16:creationId xmlns:a16="http://schemas.microsoft.com/office/drawing/2014/main" id="{C964062C-BC08-5F77-B484-851ED4899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69971">
            <a:off x="7160566" y="1288097"/>
            <a:ext cx="1070690" cy="10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68B36D-F271-630D-3C32-CF6BBA138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666" y="4714083"/>
            <a:ext cx="4426645" cy="1903456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53BC52-C1C6-C0FB-B776-3A71294CB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836" y="293864"/>
            <a:ext cx="4234979" cy="3275775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90AA2A-F8A1-D04E-0F91-E0ABF2C68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269" y="3831228"/>
            <a:ext cx="5651350" cy="2783289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177144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8C40F-C9FF-6759-B3CC-7DE7C49A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B24D50-389E-59FE-1143-C41236A7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98" y="3428999"/>
            <a:ext cx="4356062" cy="3179926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D3F51F-E0F2-41F0-9EAD-111C87DFF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B2016D-7F02-3FE0-413B-D07F6AD1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33605"/>
            <a:ext cx="5291327" cy="1435253"/>
          </a:xfrm>
          <a:solidFill>
            <a:srgbClr val="FFFFFF"/>
          </a:solidFill>
          <a:ln w="28575">
            <a:solidFill>
              <a:schemeClr val="accent4"/>
            </a:solidFill>
          </a:ln>
        </p:spPr>
        <p:txBody>
          <a:bodyPr>
            <a:normAutofit fontScale="90000"/>
          </a:bodyPr>
          <a:lstStyle/>
          <a:p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2: Random Forest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B28D7-EE58-DE25-635F-6C2A8F5C7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98" y="254023"/>
            <a:ext cx="4356062" cy="2994793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0CDB1F-BAEB-82E1-967A-4E23C0E0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248816"/>
            <a:ext cx="5285791" cy="2251039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Ensemble learning method using multiple trees</a:t>
            </a:r>
          </a:p>
          <a:p>
            <a:r>
              <a:rPr lang="en-US" dirty="0">
                <a:solidFill>
                  <a:schemeClr val="tx2"/>
                </a:solidFill>
              </a:rPr>
              <a:t>Achieved extremely high classification accuracy (~98%)</a:t>
            </a:r>
          </a:p>
          <a:p>
            <a:r>
              <a:rPr lang="en-US" dirty="0">
                <a:solidFill>
                  <a:schemeClr val="tx2"/>
                </a:solidFill>
              </a:rPr>
              <a:t>Out-of-bag (OOB) error rate dropped below 1% after approximately 40 trees</a:t>
            </a:r>
          </a:p>
          <a:p>
            <a:r>
              <a:rPr lang="en-US" dirty="0">
                <a:solidFill>
                  <a:schemeClr val="tx2"/>
                </a:solidFill>
              </a:rPr>
              <a:t>Variable importance analysis identified flipper length and culmen length as highly influential</a:t>
            </a:r>
          </a:p>
        </p:txBody>
      </p:sp>
    </p:spTree>
    <p:extLst>
      <p:ext uri="{BB962C8B-B14F-4D97-AF65-F5344CB8AC3E}">
        <p14:creationId xmlns:p14="http://schemas.microsoft.com/office/powerpoint/2010/main" val="2693677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93F6D-7AAE-012E-6234-9F85AF22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17144C-0013-A8D6-312A-0C8D7288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3: Naïve Bayes</a:t>
            </a:r>
          </a:p>
        </p:txBody>
      </p:sp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67D3BAED-A977-C0DB-8C55-F131D5B64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385393"/>
              </p:ext>
            </p:extLst>
          </p:nvPr>
        </p:nvGraphicFramePr>
        <p:xfrm>
          <a:off x="4672103" y="640079"/>
          <a:ext cx="6883072" cy="2959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344763E-1F5B-4192-9E84-267D8A649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223" y="3822192"/>
            <a:ext cx="6882951" cy="20684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013361-A314-4AA8-8C94-46622655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3905450"/>
            <a:ext cx="6720840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B1FAE-4D20-135B-F31F-72995C2114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651" y="3987746"/>
            <a:ext cx="4950094" cy="1737360"/>
          </a:xfrm>
          <a:prstGeom prst="rect">
            <a:avLst/>
          </a:prstGeom>
        </p:spPr>
      </p:pic>
      <p:pic>
        <p:nvPicPr>
          <p:cNvPr id="2" name="Picture 2" descr="Penguin Transparent Transparent HQ PNG Download | FreePNGimg">
            <a:extLst>
              <a:ext uri="{FF2B5EF4-FFF2-40B4-BE49-F238E27FC236}">
                <a16:creationId xmlns:a16="http://schemas.microsoft.com/office/drawing/2014/main" id="{3508AB1B-D4AC-4834-AD0A-229D7C7FF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5" y="4978749"/>
            <a:ext cx="854720" cy="93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83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CDD0-3FFD-ACF2-2C4E-192B5095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28BEC0-FAF8-ACD7-5D8B-5DA8A0EA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28"/>
            <a:ext cx="7729728" cy="1188720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4: Neural Network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378149-B182-94E7-62EF-E1420E110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74028"/>
            <a:ext cx="7729728" cy="1075764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2"/>
                </a:solidFill>
              </a:rPr>
              <a:t>Single hidden-layer neural network, </a:t>
            </a:r>
            <a:r>
              <a:rPr lang="en-US" dirty="0">
                <a:solidFill>
                  <a:schemeClr val="accent2"/>
                </a:solidFill>
              </a:rPr>
              <a:t>used normalized numerical attributes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Partial model focused on culmen measurements for 2d visualization</a:t>
            </a:r>
          </a:p>
          <a:p>
            <a:r>
              <a:rPr lang="en-US" dirty="0">
                <a:solidFill>
                  <a:schemeClr val="tx2"/>
                </a:solidFill>
              </a:rPr>
              <a:t>Decision regions shows nonlinear separation between penguin species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066EA-4406-618C-8AC7-CFC5FF8C7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" y="3400327"/>
            <a:ext cx="4084320" cy="3196918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2CF7C1-8A6B-92F4-9E58-0C754E407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386113"/>
              </p:ext>
            </p:extLst>
          </p:nvPr>
        </p:nvGraphicFramePr>
        <p:xfrm>
          <a:off x="4871810" y="3400328"/>
          <a:ext cx="6873150" cy="31969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1078">
                  <a:extLst>
                    <a:ext uri="{9D8B030D-6E8A-4147-A177-3AD203B41FA5}">
                      <a16:colId xmlns:a16="http://schemas.microsoft.com/office/drawing/2014/main" val="1995890451"/>
                    </a:ext>
                  </a:extLst>
                </a:gridCol>
                <a:gridCol w="1391051">
                  <a:extLst>
                    <a:ext uri="{9D8B030D-6E8A-4147-A177-3AD203B41FA5}">
                      <a16:colId xmlns:a16="http://schemas.microsoft.com/office/drawing/2014/main" val="2431959560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849452894"/>
                    </a:ext>
                  </a:extLst>
                </a:gridCol>
                <a:gridCol w="1239299">
                  <a:extLst>
                    <a:ext uri="{9D8B030D-6E8A-4147-A177-3AD203B41FA5}">
                      <a16:colId xmlns:a16="http://schemas.microsoft.com/office/drawing/2014/main" val="3278116792"/>
                    </a:ext>
                  </a:extLst>
                </a:gridCol>
              </a:tblGrid>
              <a:tr h="10656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Neurons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Hidden Neurons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 Neurons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69232033"/>
                  </a:ext>
                </a:extLst>
              </a:tr>
              <a:tr h="10656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Partial Model (culmen length and depth)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9124864"/>
                  </a:ext>
                </a:extLst>
              </a:tr>
              <a:tr h="10656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Model (all predictors)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829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363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AB00E-5331-407E-55A2-17E8DDEE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E1D4842-F208-47E0-A3A4-6469A9F04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CFF8F2-8E0F-D143-1A5A-7F184AEC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1075765"/>
            <a:ext cx="5291327" cy="1263131"/>
          </a:xfrm>
          <a:solidFill>
            <a:srgbClr val="FFFFFF"/>
          </a:solidFill>
          <a:ln w="28575"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r>
              <a:rPr lang="en-US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5: K-Nearest Neighbor (KNN)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1FF4AF-FD4C-D6A6-7539-5791A0B7C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09" y="2718854"/>
            <a:ext cx="5285791" cy="3042547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 fontScale="925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KNN classified observations using nearest-neighbor similarity</a:t>
            </a:r>
          </a:p>
          <a:p>
            <a:r>
              <a:rPr lang="en-US" dirty="0">
                <a:solidFill>
                  <a:schemeClr val="accent2"/>
                </a:solidFill>
              </a:rPr>
              <a:t>Used normalized numerical attributes to ensure fair distance calculations</a:t>
            </a:r>
          </a:p>
          <a:p>
            <a:r>
              <a:rPr lang="en-US" dirty="0">
                <a:solidFill>
                  <a:schemeClr val="accent2"/>
                </a:solidFill>
              </a:rPr>
              <a:t>Used culmen measurements in partial model for 2d visualization</a:t>
            </a:r>
          </a:p>
          <a:p>
            <a:r>
              <a:rPr lang="en-US" dirty="0">
                <a:solidFill>
                  <a:schemeClr val="accent2"/>
                </a:solidFill>
              </a:rPr>
              <a:t>Performance depended on choice of k (# of neighbors)</a:t>
            </a:r>
          </a:p>
          <a:p>
            <a:r>
              <a:rPr lang="en-US" dirty="0">
                <a:solidFill>
                  <a:schemeClr val="accent2"/>
                </a:solidFill>
              </a:rPr>
              <a:t>Hyperparameter tuning tested multiple k values: 1, 3, 5, 7, 9, 11, 13, and 15</a:t>
            </a:r>
          </a:p>
          <a:p>
            <a:r>
              <a:rPr lang="en-US" dirty="0">
                <a:solidFill>
                  <a:schemeClr val="accent2"/>
                </a:solidFill>
              </a:rPr>
              <a:t>Higher k values (13, 15) performed best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BE2FA-C0D9-FD5A-16CE-FEE8C32169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5128"/>
          <a:stretch>
            <a:fillRect/>
          </a:stretch>
        </p:blipFill>
        <p:spPr>
          <a:xfrm>
            <a:off x="7000004" y="3508943"/>
            <a:ext cx="5007970" cy="3230883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7D2ABC-D410-3130-B8C1-C472D2EB22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1881"/>
          <a:stretch>
            <a:fillRect/>
          </a:stretch>
        </p:blipFill>
        <p:spPr>
          <a:xfrm>
            <a:off x="7000004" y="118176"/>
            <a:ext cx="5007970" cy="3230881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03695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47EBA-CBFB-8EA5-1548-9E1CA5DD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2C5887-E537-4F0C-5E0F-3D8FC1F3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23945"/>
            <a:ext cx="3066937" cy="1529468"/>
          </a:xfrm>
          <a:solidFill>
            <a:schemeClr val="accent4"/>
          </a:solidFill>
          <a:ln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en-US" sz="29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6: Support Vector Machine (SVM)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94FDB0-563E-1F41-6769-6AC6916B0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3"/>
            <a:ext cx="3063765" cy="3375481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 fontScale="92500" lnSpcReduction="20000"/>
          </a:bodyPr>
          <a:lstStyle/>
          <a:p>
            <a:r>
              <a:rPr lang="en-US" dirty="0">
                <a:solidFill>
                  <a:schemeClr val="tx2"/>
                </a:solidFill>
              </a:rPr>
              <a:t>Used normalized numerical attributes</a:t>
            </a:r>
          </a:p>
          <a:p>
            <a:r>
              <a:rPr lang="en-US" dirty="0">
                <a:solidFill>
                  <a:schemeClr val="tx2"/>
                </a:solidFill>
              </a:rPr>
              <a:t>Used radial kernel for nonlinear separation</a:t>
            </a:r>
          </a:p>
          <a:p>
            <a:r>
              <a:rPr lang="en-US" dirty="0">
                <a:solidFill>
                  <a:schemeClr val="tx2"/>
                </a:solidFill>
              </a:rPr>
              <a:t>Used culmen measurements in partial model for 2d visualization</a:t>
            </a:r>
          </a:p>
          <a:p>
            <a:r>
              <a:rPr lang="en-US" dirty="0">
                <a:solidFill>
                  <a:schemeClr val="tx2"/>
                </a:solidFill>
              </a:rPr>
              <a:t>SVM constructed optimal hyperplanes between species</a:t>
            </a:r>
          </a:p>
          <a:p>
            <a:r>
              <a:rPr lang="en-US" dirty="0">
                <a:solidFill>
                  <a:schemeClr val="tx2"/>
                </a:solidFill>
              </a:rPr>
              <a:t>Full model with all predictors improved accuracy from ~0.87 </a:t>
            </a:r>
            <a:r>
              <a:rPr lang="en-US" dirty="0">
                <a:solidFill>
                  <a:schemeClr val="tx2"/>
                </a:solidFill>
                <a:sym typeface="Wingdings" panose="05000000000000000000" pitchFamily="2" charset="2"/>
              </a:rPr>
              <a:t> ~0.96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Penguin - free icon">
            <a:extLst>
              <a:ext uri="{FF2B5EF4-FFF2-40B4-BE49-F238E27FC236}">
                <a16:creationId xmlns:a16="http://schemas.microsoft.com/office/drawing/2014/main" id="{E1A134FA-CF35-6E90-0504-D8895AD97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8273">
            <a:off x="10654915" y="2893655"/>
            <a:ext cx="1070690" cy="10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9E8022-834C-E31A-E34B-4B239051E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366" y="1393608"/>
            <a:ext cx="6227064" cy="4078726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602624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E4A2A-672A-AFF2-9965-0C158A11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1D18E5-6A91-BE24-531C-E13DCC9B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964692"/>
            <a:ext cx="5928637" cy="1188720"/>
          </a:xfrm>
          <a:solidFill>
            <a:schemeClr val="accent4"/>
          </a:solidFill>
          <a:ln>
            <a:solidFill>
              <a:schemeClr val="tx2"/>
            </a:solidFill>
          </a:ln>
        </p:spPr>
        <p:txBody>
          <a:bodyPr>
            <a:noAutofit/>
          </a:bodyPr>
          <a:lstStyle/>
          <a:p>
            <a:r>
              <a:rPr lang="en-US" sz="3300" b="1" cap="none" spc="0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7: K-Means Clustering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219B44-0357-C22A-4F1A-4E8CDB861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38044"/>
            <a:ext cx="5925312" cy="3255264"/>
          </a:xfr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 anchor="ctr">
            <a:normAutofit fontScale="92500" lnSpcReduction="20000"/>
          </a:bodyPr>
          <a:lstStyle/>
          <a:p>
            <a:r>
              <a:rPr lang="en-US" dirty="0"/>
              <a:t>Unsupervised learning technique with species labels removed</a:t>
            </a:r>
          </a:p>
          <a:p>
            <a:r>
              <a:rPr lang="en-US" dirty="0"/>
              <a:t>Numerical variables were scaled prior to clustering to standardize distance calculations</a:t>
            </a:r>
          </a:p>
          <a:p>
            <a:r>
              <a:rPr lang="en-US" dirty="0"/>
              <a:t>3 clusters were generated to match species count</a:t>
            </a:r>
          </a:p>
          <a:p>
            <a:r>
              <a:rPr lang="en-US" dirty="0"/>
              <a:t>Cluster centers represented the average feature values with each group</a:t>
            </a:r>
          </a:p>
          <a:p>
            <a:r>
              <a:rPr lang="en-US" dirty="0"/>
              <a:t>Black points formed most distinct and consistently separated clusters across all attribute combinations</a:t>
            </a:r>
          </a:p>
          <a:p>
            <a:r>
              <a:rPr lang="en-US" dirty="0"/>
              <a:t>Red and green points showed the greatest overlap</a:t>
            </a:r>
          </a:p>
          <a:p>
            <a:r>
              <a:rPr lang="en-US" dirty="0"/>
              <a:t>Some observations may be incorrectly assigned to neighboring clusters based solely on proximity to cluster centers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13FC6-66E7-FA79-B2B8-729D53C9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307"/>
          <a:stretch>
            <a:fillRect/>
          </a:stretch>
        </p:blipFill>
        <p:spPr>
          <a:xfrm>
            <a:off x="7315201" y="3533881"/>
            <a:ext cx="4408152" cy="323033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B696F9-5FAA-6C18-4781-DCBE29C9BA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53" r="3" b="3"/>
          <a:stretch>
            <a:fillRect/>
          </a:stretch>
        </p:blipFill>
        <p:spPr>
          <a:xfrm>
            <a:off x="7315201" y="128486"/>
            <a:ext cx="4408152" cy="3230527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83490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1DADF1-4A22-C2F2-781F-119592094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3377509"/>
            <a:ext cx="4671595" cy="2289081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D3F51F-E0F2-41F0-9EAD-111C87DFF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AE09D-E6D5-F587-D154-D6E14914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0634" y="1655785"/>
            <a:ext cx="5291327" cy="1188720"/>
          </a:xfrm>
          <a:solidFill>
            <a:srgbClr val="FFFFFF"/>
          </a:solidFill>
          <a:ln>
            <a:solidFill>
              <a:schemeClr val="accent4"/>
            </a:solidFill>
          </a:ln>
        </p:spPr>
        <p:txBody>
          <a:bodyPr>
            <a:normAutofit fontScale="90000"/>
          </a:bodyPr>
          <a:lstStyle/>
          <a:p>
            <a:r>
              <a:rPr lang="en-US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Algorithm 8: AdaBoost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9FAE57-1722-D5BB-C06A-7649B9660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33" y="1414405"/>
            <a:ext cx="4671595" cy="1641371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8969-2C20-11F3-D3E9-29B308557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0634" y="3224463"/>
            <a:ext cx="5285791" cy="2089217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AdaBoost sequentially improved weak learners</a:t>
            </a:r>
          </a:p>
          <a:p>
            <a:r>
              <a:rPr lang="en-US" dirty="0">
                <a:solidFill>
                  <a:schemeClr val="tx2"/>
                </a:solidFill>
              </a:rPr>
              <a:t>Focused on correcting previous classification errors</a:t>
            </a:r>
          </a:p>
          <a:p>
            <a:r>
              <a:rPr lang="en-US" dirty="0">
                <a:solidFill>
                  <a:schemeClr val="tx2"/>
                </a:solidFill>
              </a:rPr>
              <a:t>Ensemble boosting improved classification strength</a:t>
            </a:r>
          </a:p>
          <a:p>
            <a:r>
              <a:rPr lang="en-US" dirty="0">
                <a:solidFill>
                  <a:schemeClr val="tx2"/>
                </a:solidFill>
              </a:rPr>
              <a:t>Achieved ~98% test accuracy</a:t>
            </a:r>
          </a:p>
        </p:txBody>
      </p:sp>
      <p:pic>
        <p:nvPicPr>
          <p:cNvPr id="4" name="Picture 2" descr="Penguin - free icon">
            <a:extLst>
              <a:ext uri="{FF2B5EF4-FFF2-40B4-BE49-F238E27FC236}">
                <a16:creationId xmlns:a16="http://schemas.microsoft.com/office/drawing/2014/main" id="{FAEAF799-49D5-A2AE-E62B-DA36914AA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858" y="343715"/>
            <a:ext cx="1070690" cy="10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872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8DB41-8117-1D90-3622-7C842D78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wrap="square">
            <a:noAutofit/>
          </a:bodyPr>
          <a:lstStyle/>
          <a:p>
            <a:r>
              <a:rPr lang="en-US" sz="3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Summary &amp; Algorithm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CA9BA-3DCE-3EBC-4E6E-96937BB3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  <a:solidFill>
            <a:schemeClr val="accent1"/>
          </a:solidFill>
          <a:ln w="28575">
            <a:solidFill>
              <a:schemeClr val="accent4"/>
            </a:solidFill>
          </a:ln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Ensemble methods produced strongest overall performance</a:t>
            </a:r>
          </a:p>
          <a:p>
            <a:r>
              <a:rPr lang="en-US" dirty="0">
                <a:solidFill>
                  <a:schemeClr val="accent2"/>
                </a:solidFill>
              </a:rPr>
              <a:t>Random Forest and AdaBoost achieved highest accuracies</a:t>
            </a:r>
          </a:p>
          <a:p>
            <a:r>
              <a:rPr lang="en-US" dirty="0">
                <a:solidFill>
                  <a:schemeClr val="accent2"/>
                </a:solidFill>
              </a:rPr>
              <a:t>Simpler models still performed strong due to clear feature separability</a:t>
            </a:r>
          </a:p>
          <a:p>
            <a:r>
              <a:rPr lang="en-US" dirty="0">
                <a:solidFill>
                  <a:schemeClr val="accent2"/>
                </a:solidFill>
              </a:rPr>
              <a:t>Full models consistently outperformed partial two-variable models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866EDA-E8F0-9169-0FB1-4943B120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3" r="1305"/>
          <a:stretch>
            <a:fillRect/>
          </a:stretch>
        </p:blipFill>
        <p:spPr>
          <a:xfrm>
            <a:off x="5297763" y="1026046"/>
            <a:ext cx="6250769" cy="480590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pic>
        <p:nvPicPr>
          <p:cNvPr id="4" name="Picture 2" descr="Penguin Transparent Transparent HQ PNG Download | FreePNGimg">
            <a:extLst>
              <a:ext uri="{FF2B5EF4-FFF2-40B4-BE49-F238E27FC236}">
                <a16:creationId xmlns:a16="http://schemas.microsoft.com/office/drawing/2014/main" id="{E3327ECE-155E-CA79-163E-5B5854413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274" y="4890667"/>
            <a:ext cx="854720" cy="93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15231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1">
      <a:dk1>
        <a:sysClr val="windowText" lastClr="000000"/>
      </a:dk1>
      <a:lt1>
        <a:sysClr val="window" lastClr="FFFFFF"/>
      </a:lt1>
      <a:dk2>
        <a:srgbClr val="345964"/>
      </a:dk2>
      <a:lt2>
        <a:srgbClr val="548F9F"/>
      </a:lt2>
      <a:accent1>
        <a:srgbClr val="FFFFFF"/>
      </a:accent1>
      <a:accent2>
        <a:srgbClr val="345964"/>
      </a:accent2>
      <a:accent3>
        <a:srgbClr val="196B24"/>
      </a:accent3>
      <a:accent4>
        <a:srgbClr val="71A5B5"/>
      </a:accent4>
      <a:accent5>
        <a:srgbClr val="AECCD4"/>
      </a:accent5>
      <a:accent6>
        <a:srgbClr val="C19EB1"/>
      </a:accent6>
      <a:hlink>
        <a:srgbClr val="CEE0E5"/>
      </a:hlink>
      <a:folHlink>
        <a:srgbClr val="C19EB1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3053</TotalTime>
  <Words>856</Words>
  <Application>Microsoft Office PowerPoint</Application>
  <PresentationFormat>Widescreen</PresentationFormat>
  <Paragraphs>123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Gill Sans MT</vt:lpstr>
      <vt:lpstr>Wingdings</vt:lpstr>
      <vt:lpstr>Parcel</vt:lpstr>
      <vt:lpstr>Penguins Species Analysis Using Data Mining Algorithms in R</vt:lpstr>
      <vt:lpstr>Data Exploration</vt:lpstr>
      <vt:lpstr>Dataset Overview</vt:lpstr>
      <vt:lpstr>PowerPoint Presentation</vt:lpstr>
      <vt:lpstr>Exploratory Data Analysis</vt:lpstr>
      <vt:lpstr>PowerPoint Presentation</vt:lpstr>
      <vt:lpstr>Data Cleaning &amp; Pre-Processing</vt:lpstr>
      <vt:lpstr>Missing Values, Data Types, Training/Test Split</vt:lpstr>
      <vt:lpstr>Correlation &amp; Feature Relationships</vt:lpstr>
      <vt:lpstr>Principal Component Analysis (PCA)</vt:lpstr>
      <vt:lpstr>Normalization &amp; Dummy Variable Encoding</vt:lpstr>
      <vt:lpstr>Data Mining Algorithms (8)</vt:lpstr>
      <vt:lpstr>Algorithm 1: Decision Tree</vt:lpstr>
      <vt:lpstr>Algorithm 2: Random Forest</vt:lpstr>
      <vt:lpstr>Algorithm 3: Naïve Bayes</vt:lpstr>
      <vt:lpstr>Algorithm 4: Neural Network</vt:lpstr>
      <vt:lpstr>Algorithm 5: K-Nearest Neighbor (KNN)</vt:lpstr>
      <vt:lpstr>Algorithm 6: Support Vector Machine (SVM)</vt:lpstr>
      <vt:lpstr>Algorithm 7: K-Means Clustering</vt:lpstr>
      <vt:lpstr>Algorithm 8: AdaBoost</vt:lpstr>
      <vt:lpstr>Summary &amp; Algorithm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Vernieri</dc:creator>
  <cp:lastModifiedBy>Justin Vernieri</cp:lastModifiedBy>
  <cp:revision>2</cp:revision>
  <dcterms:created xsi:type="dcterms:W3CDTF">2026-05-06T16:08:41Z</dcterms:created>
  <dcterms:modified xsi:type="dcterms:W3CDTF">2026-05-11T22:52:43Z</dcterms:modified>
</cp:coreProperties>
</file>